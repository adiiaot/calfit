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0:00–0:15  ·  AYO
"Good morning. We are Oluwadare Taye Ayo and Okechukwu David Chukwuebuka. This is CalFit — one app for food, workouts, sleep and fasting, with an AI coach that knows your history. Three slides on the problem and what we built, then David takes the engineering and the proof, then we open the app."
Do not read the slide. Names, project, roadmap of the five minutes — then move.
If you are nervous: slow down for these first two sentences. Everything else follows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0:15–0:55  ·  AYO
"Look at how people around us actually track. Workouts are in a notebook, meals are remembered, sleep is not recorded at all — so there is no full picture and no proof of progress. Then the apps themselves: the popular ones are built for foreign users, so logging eba or ofada rice is guesswork. Everyone gets the same generic plan. And nobody checks in. Put those together and you get one sentence: you cannot stay motivated by progress you cannot see."
If asked for evidence, be honest: "Observation and informal conversations, not a formal survey." Do not invent sample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0:55–1:45  ·  AYO
"Each row is cause and answer. Scattered records become one dashboard. Foreign food data becomes a local database, Open Food Facts and a scanner. Generic plans become plans generated from your own profile. And no accountability becomes partners, streaks, shared goals and reminders."
The line that earns marks — say it slowly: "If a feature did not remove one of those four causes, we did not build it."
Do not name every screen. The next slide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1:45–2:30  ·  AYO
"Four screens, and this is the loop a user repeats every day. Home tells you what is left today. Calorie is where you log it — twenty-five Nigerian dishes, Open Food Facts, or a photo. The AI Coach turns your profile into a session with sets, reps, rest and form tips. Activity is where you train: eight categories, forty-eight bodyweight exercises, and a timer that talks you through it."
Point, do not read. "You will see each of these in the demo." Then hand to David: "David will show how it is put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2:30–3:10  ·  DAVID
"One codebase: React Native and Expo, so the same code runs on Android, iPhone and the web. Data and login live in Supabase — PostgreSQL with Row-Level Security, realtime for partner chat. And the AI is never called from the phone. The phone calls an Edge Function, and the function holds the key."
Privacy line: "Every table has a policy that ties the row to the signed-in user. That check happens in the database, not on the screen."
Then the honest line: "Two jobs remain — the AI proxy should reject calls that are not from a signed-in session, and account deletion is not finished on the server. Both are in our known-issues file."
IF YOU ARE BEHIND: compress this whole slide into: "One codebase for both phones, private rows enforced in the database, and the AI key lives on the server, not in the app."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3:10–3:50  ·  DAVID, then AYO closes
David: "Three layers of testing. We read the code looking for weak spots. We wrote a check script and ran it after every fix — thirty-two checks, all passing. Expo Doctor passes twenty-one of twenty-one, and TypeScript reports zero errors."
"These are real failures, not hypotheticals." Pick one, do not read all three: "The app crashed on launch in front of an assessor because setup values were missing. It now shows a setup screen instead. The AI model was retired overnight and the coach went silent; the model name now lives in config with a replacement."
Ayo: "Working today: the whole loop, the coach, the scanner, partners, streaks, export. Next thirty days: lock the AI proxy, finish account deletion, finish device testing. Not yet: store release and real payments. It runs today — so let's open it."
If asked 'did you test on a phone?': "We ran it on a real iPhone through Expo Go and built the Android APK. The full test list is not finished and we are not claiming it is."
TOTAL TALK TIME: about 3 minutes 50 seconds. Demo after this gets the rest of the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9509760" y="-1737360"/>
            <a:ext cx="4206240" cy="4206240"/>
          </a:xfrm>
          <a:prstGeom prst="ellipse">
            <a:avLst/>
          </a:prstGeom>
          <a:solidFill>
            <a:srgbClr val="10B981">
              <a:alpha val="8000"/>
            </a:srgbClr>
          </a:solidFill>
          <a:ln w="12700">
            <a:solidFill>
              <a:srgbClr val="10B981">
                <a:alpha val="0"/>
              </a:srgbClr>
            </a:solidFill>
            <a:prstDash val="solid"/>
          </a:ln>
        </p:spPr>
      </p:sp>
      <p:sp>
        <p:nvSpPr>
          <p:cNvPr id="3" name="Shape 1"/>
          <p:cNvSpPr/>
          <p:nvPr/>
        </p:nvSpPr>
        <p:spPr>
          <a:xfrm>
            <a:off x="-1463040" y="4663440"/>
            <a:ext cx="3474720" cy="3474720"/>
          </a:xfrm>
          <a:prstGeom prst="ellipse">
            <a:avLst/>
          </a:prstGeom>
          <a:solidFill>
            <a:srgbClr val="7C5CFF">
              <a:alpha val="8000"/>
            </a:srgbClr>
          </a:solidFill>
          <a:ln w="12700">
            <a:solidFill>
              <a:srgbClr val="7C5CFF">
                <a:alpha val="0"/>
              </a:srgbClr>
            </a:solidFill>
            <a:prstDash val="solid"/>
          </a:ln>
        </p:spPr>
      </p:sp>
      <p:sp>
        <p:nvSpPr>
          <p:cNvPr id="4" name="Text 2"/>
          <p:cNvSpPr/>
          <p:nvPr/>
        </p:nvSpPr>
        <p:spPr>
          <a:xfrm>
            <a:off x="822960" y="1060704"/>
            <a:ext cx="5669280" cy="256032"/>
          </a:xfrm>
          <a:prstGeom prst="rect">
            <a:avLst/>
          </a:prstGeom>
          <a:noFill/>
          <a:ln/>
        </p:spPr>
        <p:txBody>
          <a:bodyPr wrap="square" lIns="0" tIns="0" rIns="0" bIns="0" rtlCol="0" anchor="t"/>
          <a:lstStyle/>
          <a:p>
            <a:pPr algn="l" indent="0" marL="0">
              <a:lnSpc>
                <a:spcPct val="110000"/>
              </a:lnSpc>
              <a:buNone/>
            </a:pPr>
            <a:r>
              <a:rPr lang="en-US" sz="1000" b="1" spc="220" kern="0" dirty="0">
                <a:solidFill>
                  <a:srgbClr val="10B981"/>
                </a:solidFill>
                <a:latin typeface="Segoe UI" pitchFamily="34" charset="0"/>
                <a:ea typeface="Segoe UI" pitchFamily="34" charset="-122"/>
                <a:cs typeface="Segoe UI" pitchFamily="34" charset="-120"/>
              </a:rPr>
              <a:t>INDUSTRIAL TRAINING PROJECT DEFENCE  ·  2026</a:t>
            </a:r>
            <a:endParaRPr lang="en-US" sz="1000" dirty="0"/>
          </a:p>
        </p:txBody>
      </p:sp>
      <p:sp>
        <p:nvSpPr>
          <p:cNvPr id="5" name="Text 3"/>
          <p:cNvSpPr/>
          <p:nvPr/>
        </p:nvSpPr>
        <p:spPr>
          <a:xfrm>
            <a:off x="768096" y="1316736"/>
            <a:ext cx="5669280" cy="1051560"/>
          </a:xfrm>
          <a:prstGeom prst="rect">
            <a:avLst/>
          </a:prstGeom>
          <a:noFill/>
          <a:ln/>
        </p:spPr>
        <p:txBody>
          <a:bodyPr wrap="square" lIns="0" tIns="0" rIns="0" bIns="0" rtlCol="0" anchor="t"/>
          <a:lstStyle/>
          <a:p>
            <a:pPr algn="l" indent="0" marL="0">
              <a:lnSpc>
                <a:spcPct val="110000"/>
              </a:lnSpc>
              <a:buNone/>
            </a:pPr>
            <a:r>
              <a:rPr lang="en-US" sz="6600" b="1" dirty="0">
                <a:solidFill>
                  <a:srgbClr val="FFFFFF"/>
                </a:solidFill>
                <a:latin typeface="Segoe UI" pitchFamily="34" charset="0"/>
                <a:ea typeface="Segoe UI" pitchFamily="34" charset="-122"/>
                <a:cs typeface="Segoe UI" pitchFamily="34" charset="-120"/>
              </a:rPr>
              <a:t>CalFit</a:t>
            </a:r>
            <a:endParaRPr lang="en-US" sz="6600" dirty="0"/>
          </a:p>
        </p:txBody>
      </p:sp>
      <p:sp>
        <p:nvSpPr>
          <p:cNvPr id="6" name="Shape 4"/>
          <p:cNvSpPr/>
          <p:nvPr/>
        </p:nvSpPr>
        <p:spPr>
          <a:xfrm>
            <a:off x="841248" y="2523744"/>
            <a:ext cx="1005840" cy="54864"/>
          </a:xfrm>
          <a:prstGeom prst="roundRect">
            <a:avLst>
              <a:gd name="adj" fmla="val 50000"/>
            </a:avLst>
          </a:prstGeom>
          <a:solidFill>
            <a:srgbClr val="10B981"/>
          </a:solidFill>
          <a:ln w="12700">
            <a:solidFill>
              <a:srgbClr val="10B981"/>
            </a:solidFill>
            <a:prstDash val="solid"/>
          </a:ln>
        </p:spPr>
      </p:sp>
      <p:sp>
        <p:nvSpPr>
          <p:cNvPr id="7" name="Text 5"/>
          <p:cNvSpPr/>
          <p:nvPr/>
        </p:nvSpPr>
        <p:spPr>
          <a:xfrm>
            <a:off x="822960" y="2706624"/>
            <a:ext cx="4892040" cy="868680"/>
          </a:xfrm>
          <a:prstGeom prst="rect">
            <a:avLst/>
          </a:prstGeom>
          <a:noFill/>
          <a:ln/>
        </p:spPr>
        <p:txBody>
          <a:bodyPr wrap="square" lIns="0" tIns="0" rIns="0" bIns="0" rtlCol="0" anchor="t"/>
          <a:lstStyle/>
          <a:p>
            <a:pPr algn="l" indent="0" marL="0">
              <a:lnSpc>
                <a:spcPct val="130000"/>
              </a:lnSpc>
              <a:buNone/>
            </a:pPr>
            <a:r>
              <a:rPr lang="en-US" sz="1700" dirty="0">
                <a:solidFill>
                  <a:srgbClr val="C6CDE4"/>
                </a:solidFill>
                <a:latin typeface="Segoe UI" pitchFamily="34" charset="0"/>
                <a:ea typeface="Segoe UI" pitchFamily="34" charset="-122"/>
                <a:cs typeface="Segoe UI" pitchFamily="34" charset="-120"/>
              </a:rPr>
              <a:t>One app for food, workouts, sleep and fasting —</a:t>
            </a:r>
            <a:endParaRPr lang="en-US" sz="1700" dirty="0"/>
          </a:p>
          <a:p>
            <a:pPr algn="l" indent="0" marL="0">
              <a:lnSpc>
                <a:spcPct val="130000"/>
              </a:lnSpc>
              <a:buNone/>
            </a:pPr>
            <a:r>
              <a:rPr lang="en-US" sz="1700" dirty="0">
                <a:solidFill>
                  <a:srgbClr val="C6CDE4"/>
                </a:solidFill>
                <a:latin typeface="Segoe UI" pitchFamily="34" charset="0"/>
                <a:ea typeface="Segoe UI" pitchFamily="34" charset="-122"/>
                <a:cs typeface="Segoe UI" pitchFamily="34" charset="-120"/>
              </a:rPr>
              <a:t>with an AI coach that knows your history.</a:t>
            </a:r>
            <a:endParaRPr lang="en-US" sz="1700" dirty="0"/>
          </a:p>
        </p:txBody>
      </p:sp>
      <p:sp>
        <p:nvSpPr>
          <p:cNvPr id="8" name="Text 6"/>
          <p:cNvSpPr/>
          <p:nvPr/>
        </p:nvSpPr>
        <p:spPr>
          <a:xfrm>
            <a:off x="822960" y="3913632"/>
            <a:ext cx="4572000" cy="219456"/>
          </a:xfrm>
          <a:prstGeom prst="rect">
            <a:avLst/>
          </a:prstGeom>
          <a:noFill/>
          <a:ln/>
        </p:spPr>
        <p:txBody>
          <a:bodyPr wrap="square" lIns="0" tIns="0" rIns="0" bIns="0" rtlCol="0" anchor="t"/>
          <a:lstStyle/>
          <a:p>
            <a:pPr algn="l" indent="0" marL="0">
              <a:lnSpc>
                <a:spcPct val="110000"/>
              </a:lnSpc>
              <a:buNone/>
            </a:pPr>
            <a:r>
              <a:rPr lang="en-US" sz="850" b="1" spc="200" kern="0" dirty="0">
                <a:solidFill>
                  <a:srgbClr val="7F88AA"/>
                </a:solidFill>
                <a:latin typeface="Segoe UI" pitchFamily="34" charset="0"/>
                <a:ea typeface="Segoe UI" pitchFamily="34" charset="-122"/>
                <a:cs typeface="Segoe UI" pitchFamily="34" charset="-120"/>
              </a:rPr>
              <a:t>PRESENTED BY</a:t>
            </a:r>
            <a:endParaRPr lang="en-US" sz="850" dirty="0"/>
          </a:p>
        </p:txBody>
      </p:sp>
      <p:sp>
        <p:nvSpPr>
          <p:cNvPr id="9" name="Text 7"/>
          <p:cNvSpPr/>
          <p:nvPr/>
        </p:nvSpPr>
        <p:spPr>
          <a:xfrm>
            <a:off x="822960" y="4133088"/>
            <a:ext cx="4937760" cy="27432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Segoe UI" pitchFamily="34" charset="0"/>
                <a:ea typeface="Segoe UI" pitchFamily="34" charset="-122"/>
                <a:cs typeface="Segoe UI" pitchFamily="34" charset="-120"/>
              </a:rPr>
              <a:t>Oluwadare Taye Ayo</a:t>
            </a:r>
            <a:endParaRPr lang="en-US" sz="1500" dirty="0"/>
          </a:p>
        </p:txBody>
      </p:sp>
      <p:sp>
        <p:nvSpPr>
          <p:cNvPr id="10" name="Text 8"/>
          <p:cNvSpPr/>
          <p:nvPr/>
        </p:nvSpPr>
        <p:spPr>
          <a:xfrm>
            <a:off x="822960" y="4434840"/>
            <a:ext cx="5212080" cy="27432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Segoe UI" pitchFamily="34" charset="0"/>
                <a:ea typeface="Segoe UI" pitchFamily="34" charset="-122"/>
                <a:cs typeface="Segoe UI" pitchFamily="34" charset="-120"/>
              </a:rPr>
              <a:t>Okechukwu David Chukwuebuka</a:t>
            </a:r>
            <a:endParaRPr lang="en-US" sz="1500" dirty="0"/>
          </a:p>
        </p:txBody>
      </p:sp>
      <p:sp>
        <p:nvSpPr>
          <p:cNvPr id="11" name="Text 9"/>
          <p:cNvSpPr/>
          <p:nvPr/>
        </p:nvSpPr>
        <p:spPr>
          <a:xfrm>
            <a:off x="822960" y="4901184"/>
            <a:ext cx="5212080" cy="237744"/>
          </a:xfrm>
          <a:prstGeom prst="rect">
            <a:avLst/>
          </a:prstGeom>
          <a:noFill/>
          <a:ln/>
        </p:spPr>
        <p:txBody>
          <a:bodyPr wrap="square" lIns="0" tIns="0" rIns="0" bIns="0" rtlCol="0" anchor="t"/>
          <a:lstStyle/>
          <a:p>
            <a:pPr algn="l" indent="0" marL="0">
              <a:lnSpc>
                <a:spcPct val="110000"/>
              </a:lnSpc>
              <a:buNone/>
            </a:pPr>
            <a:r>
              <a:rPr lang="en-US" sz="1050" dirty="0">
                <a:solidFill>
                  <a:srgbClr val="A9B1CC"/>
                </a:solidFill>
                <a:latin typeface="Segoe UI" pitchFamily="34" charset="0"/>
                <a:ea typeface="Segoe UI" pitchFamily="34" charset="-122"/>
                <a:cs typeface="Segoe UI" pitchFamily="34" charset="-120"/>
              </a:rPr>
              <a:t>Computer Science  ·  University of Port Harcourt</a:t>
            </a:r>
            <a:endParaRPr lang="en-US" sz="1050" dirty="0"/>
          </a:p>
        </p:txBody>
      </p:sp>
      <p:sp>
        <p:nvSpPr>
          <p:cNvPr id="12" name="Text 10"/>
          <p:cNvSpPr/>
          <p:nvPr/>
        </p:nvSpPr>
        <p:spPr>
          <a:xfrm>
            <a:off x="822960" y="5138928"/>
            <a:ext cx="5212080" cy="237744"/>
          </a:xfrm>
          <a:prstGeom prst="rect">
            <a:avLst/>
          </a:prstGeom>
          <a:noFill/>
          <a:ln/>
        </p:spPr>
        <p:txBody>
          <a:bodyPr wrap="square" lIns="0" tIns="0" rIns="0" bIns="0" rtlCol="0" anchor="t"/>
          <a:lstStyle/>
          <a:p>
            <a:pPr algn="l" indent="0" marL="0">
              <a:lnSpc>
                <a:spcPct val="110000"/>
              </a:lnSpc>
              <a:buNone/>
            </a:pPr>
            <a:r>
              <a:rPr lang="en-US" sz="1050" dirty="0">
                <a:solidFill>
                  <a:srgbClr val="A9B1CC"/>
                </a:solidFill>
                <a:latin typeface="Segoe UI" pitchFamily="34" charset="0"/>
                <a:ea typeface="Segoe UI" pitchFamily="34" charset="-122"/>
                <a:cs typeface="Segoe UI" pitchFamily="34" charset="-120"/>
              </a:rPr>
              <a:t>Industrial Training at AI HIVE  ·  October 2026</a:t>
            </a:r>
            <a:endParaRPr lang="en-US" sz="1050" dirty="0"/>
          </a:p>
        </p:txBody>
      </p:sp>
      <p:sp>
        <p:nvSpPr>
          <p:cNvPr id="13" name="Text 11"/>
          <p:cNvSpPr/>
          <p:nvPr/>
        </p:nvSpPr>
        <p:spPr>
          <a:xfrm>
            <a:off x="822960" y="5614416"/>
            <a:ext cx="5212080" cy="274320"/>
          </a:xfrm>
          <a:prstGeom prst="rect">
            <a:avLst/>
          </a:prstGeom>
          <a:noFill/>
          <a:ln/>
        </p:spPr>
        <p:txBody>
          <a:bodyPr wrap="square" lIns="0" tIns="0" rIns="0" bIns="0" rtlCol="0" anchor="t"/>
          <a:lstStyle/>
          <a:p>
            <a:pPr algn="l" indent="0" marL="0">
              <a:lnSpc>
                <a:spcPct val="110000"/>
              </a:lnSpc>
              <a:buNone/>
            </a:pPr>
            <a:r>
              <a:rPr lang="en-US" sz="1100" i="1" dirty="0">
                <a:solidFill>
                  <a:srgbClr val="10B981"/>
                </a:solidFill>
                <a:latin typeface="Segoe UI" pitchFamily="34" charset="0"/>
                <a:ea typeface="Segoe UI" pitchFamily="34" charset="-122"/>
                <a:cs typeface="Segoe UI" pitchFamily="34" charset="-120"/>
              </a:rPr>
              <a:t>“You can’t stay motivated by progress you can’t see.”</a:t>
            </a:r>
            <a:endParaRPr lang="en-US" sz="1100" dirty="0"/>
          </a:p>
        </p:txBody>
      </p:sp>
      <p:sp>
        <p:nvSpPr>
          <p:cNvPr id="14" name="Shape 12"/>
          <p:cNvSpPr/>
          <p:nvPr/>
        </p:nvSpPr>
        <p:spPr>
          <a:xfrm>
            <a:off x="6099048" y="859536"/>
            <a:ext cx="5614416" cy="3792017"/>
          </a:xfrm>
          <a:prstGeom prst="roundRect">
            <a:avLst>
              <a:gd name="adj" fmla="val 4340"/>
            </a:avLst>
          </a:prstGeom>
          <a:solidFill>
            <a:srgbClr val="1A2142"/>
          </a:solidFill>
          <a:ln w="12700">
            <a:solidFill>
              <a:srgbClr val="39406B"/>
            </a:solidFill>
            <a:prstDash val="solid"/>
          </a:ln>
        </p:spPr>
      </p:sp>
      <p:pic>
        <p:nvPicPr>
          <p:cNvPr id="15" name="Image 0" descr="C:\My Workspace\Aotsecure-V1\projects\Mobile Apps\CalFit\CalFit App Screens\CalFit App Screens\calfit thumbnail.png">    </p:cNvPr>
          <p:cNvPicPr>
            <a:picLocks noChangeAspect="1"/>
          </p:cNvPicPr>
          <p:nvPr/>
        </p:nvPicPr>
        <p:blipFill>
          <a:blip r:embed="rId1"/>
          <a:srcRect l="0" r="0" t="0" b="0"/>
          <a:stretch/>
        </p:blipFill>
        <p:spPr>
          <a:xfrm>
            <a:off x="6172200" y="932688"/>
            <a:ext cx="5468112" cy="3645713"/>
          </a:xfrm>
          <a:prstGeom prst="rect">
            <a:avLst/>
          </a:prstGeom>
        </p:spPr>
      </p:pic>
      <p:sp>
        <p:nvSpPr>
          <p:cNvPr id="16" name="Text 13"/>
          <p:cNvSpPr/>
          <p:nvPr/>
        </p:nvSpPr>
        <p:spPr>
          <a:xfrm>
            <a:off x="6172200" y="4754880"/>
            <a:ext cx="5486400" cy="237744"/>
          </a:xfrm>
          <a:prstGeom prst="rect">
            <a:avLst/>
          </a:prstGeom>
          <a:noFill/>
          <a:ln/>
        </p:spPr>
        <p:txBody>
          <a:bodyPr wrap="square" lIns="0" tIns="0" rIns="0" bIns="0" rtlCol="0" anchor="t"/>
          <a:lstStyle/>
          <a:p>
            <a:pPr algn="ctr" indent="0" marL="0">
              <a:lnSpc>
                <a:spcPct val="110000"/>
              </a:lnSpc>
              <a:buNone/>
            </a:pPr>
            <a:r>
              <a:rPr lang="en-US" sz="950" dirty="0">
                <a:solidFill>
                  <a:srgbClr val="8A93B4"/>
                </a:solidFill>
                <a:latin typeface="Segoe UI" pitchFamily="34" charset="0"/>
                <a:ea typeface="Segoe UI" pitchFamily="34" charset="-122"/>
                <a:cs typeface="Segoe UI" pitchFamily="34" charset="-120"/>
              </a:rPr>
              <a:t>Android APK  ·  iOS via Expo Go  ·  Web build</a:t>
            </a:r>
            <a:endParaRPr lang="en-US" sz="950" dirty="0"/>
          </a:p>
        </p:txBody>
      </p:sp>
      <p:sp>
        <p:nvSpPr>
          <p:cNvPr id="17" name="Shape 14"/>
          <p:cNvSpPr/>
          <p:nvPr/>
        </p:nvSpPr>
        <p:spPr>
          <a:xfrm>
            <a:off x="822960" y="5998464"/>
            <a:ext cx="10561320" cy="0"/>
          </a:xfrm>
          <a:prstGeom prst="line">
            <a:avLst/>
          </a:prstGeom>
          <a:noFill/>
          <a:ln w="12700">
            <a:solidFill>
              <a:srgbClr val="2B3459"/>
            </a:solidFill>
            <a:prstDash val="solid"/>
          </a:ln>
        </p:spPr>
      </p:sp>
      <p:sp>
        <p:nvSpPr>
          <p:cNvPr id="18" name="Text 15"/>
          <p:cNvSpPr/>
          <p:nvPr/>
        </p:nvSpPr>
        <p:spPr>
          <a:xfrm>
            <a:off x="822960" y="6126480"/>
            <a:ext cx="4114800" cy="219456"/>
          </a:xfrm>
          <a:prstGeom prst="rect">
            <a:avLst/>
          </a:prstGeom>
          <a:noFill/>
          <a:ln/>
        </p:spPr>
        <p:txBody>
          <a:bodyPr wrap="square" lIns="0" tIns="0" rIns="0" bIns="0" rtlCol="0" anchor="t"/>
          <a:lstStyle/>
          <a:p>
            <a:pPr algn="l" indent="0" marL="0">
              <a:lnSpc>
                <a:spcPct val="110000"/>
              </a:lnSpc>
              <a:buNone/>
            </a:pPr>
            <a:r>
              <a:rPr lang="en-US" sz="900" dirty="0">
                <a:solidFill>
                  <a:srgbClr val="8A93B4"/>
                </a:solidFill>
                <a:latin typeface="Segoe UI" pitchFamily="34" charset="0"/>
                <a:ea typeface="Segoe UI" pitchFamily="34" charset="-122"/>
                <a:cs typeface="Segoe UI" pitchFamily="34" charset="-120"/>
              </a:rPr>
              <a:t>dist-seven-woad-33.vercel.app</a:t>
            </a:r>
            <a:endParaRPr lang="en-US" sz="900" dirty="0"/>
          </a:p>
        </p:txBody>
      </p:sp>
      <p:sp>
        <p:nvSpPr>
          <p:cNvPr id="19" name="Text 16"/>
          <p:cNvSpPr/>
          <p:nvPr/>
        </p:nvSpPr>
        <p:spPr>
          <a:xfrm>
            <a:off x="6675120" y="6126480"/>
            <a:ext cx="4709160" cy="219456"/>
          </a:xfrm>
          <a:prstGeom prst="rect">
            <a:avLst/>
          </a:prstGeom>
          <a:noFill/>
          <a:ln/>
        </p:spPr>
        <p:txBody>
          <a:bodyPr wrap="square" lIns="0" tIns="0" rIns="0" bIns="0" rtlCol="0" anchor="t"/>
          <a:lstStyle/>
          <a:p>
            <a:pPr algn="r" indent="0" marL="0">
              <a:lnSpc>
                <a:spcPct val="110000"/>
              </a:lnSpc>
              <a:buNone/>
            </a:pPr>
            <a:r>
              <a:rPr lang="en-US" sz="900" dirty="0">
                <a:solidFill>
                  <a:srgbClr val="8A93B4"/>
                </a:solidFill>
                <a:latin typeface="Segoe UI" pitchFamily="34" charset="0"/>
                <a:ea typeface="Segoe UI" pitchFamily="34" charset="-122"/>
                <a:cs typeface="Segoe UI" pitchFamily="34" charset="-120"/>
              </a:rPr>
              <a:t>5-minute defence  ·  demo follows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66928" y="365760"/>
            <a:ext cx="10789920" cy="237744"/>
          </a:xfrm>
          <a:prstGeom prst="rect">
            <a:avLst/>
          </a:prstGeom>
          <a:noFill/>
          <a:ln/>
        </p:spPr>
        <p:txBody>
          <a:bodyPr wrap="square" lIns="0" tIns="0" rIns="0" bIns="0" rtlCol="0" anchor="t"/>
          <a:lstStyle/>
          <a:p>
            <a:pPr algn="l" indent="0" marL="0">
              <a:lnSpc>
                <a:spcPct val="110000"/>
              </a:lnSpc>
              <a:buNone/>
            </a:pPr>
            <a:r>
              <a:rPr lang="en-US" sz="1000" b="1" spc="240" kern="0" dirty="0">
                <a:solidFill>
                  <a:srgbClr val="0B8F65"/>
                </a:solidFill>
                <a:latin typeface="Segoe UI" pitchFamily="34" charset="0"/>
                <a:ea typeface="Segoe UI" pitchFamily="34" charset="-122"/>
                <a:cs typeface="Segoe UI" pitchFamily="34" charset="-120"/>
              </a:rPr>
              <a:t>THE PROBLEM</a:t>
            </a:r>
            <a:endParaRPr lang="en-US" sz="1000" dirty="0"/>
          </a:p>
        </p:txBody>
      </p:sp>
      <p:sp>
        <p:nvSpPr>
          <p:cNvPr id="3" name="Text 1"/>
          <p:cNvSpPr/>
          <p:nvPr/>
        </p:nvSpPr>
        <p:spPr>
          <a:xfrm>
            <a:off x="548640" y="640080"/>
            <a:ext cx="11064240" cy="548640"/>
          </a:xfrm>
          <a:prstGeom prst="rect">
            <a:avLst/>
          </a:prstGeom>
          <a:noFill/>
          <a:ln/>
        </p:spPr>
        <p:txBody>
          <a:bodyPr wrap="square" lIns="0" tIns="0" rIns="0" bIns="0" rtlCol="0" anchor="t"/>
          <a:lstStyle/>
          <a:p>
            <a:pPr algn="l" indent="0" marL="0">
              <a:lnSpc>
                <a:spcPct val="110000"/>
              </a:lnSpc>
              <a:buNone/>
            </a:pPr>
            <a:r>
              <a:rPr lang="en-US" sz="3000" b="1" dirty="0">
                <a:solidFill>
                  <a:srgbClr val="11162E"/>
                </a:solidFill>
                <a:latin typeface="Segoe UI" pitchFamily="34" charset="0"/>
                <a:ea typeface="Segoe UI" pitchFamily="34" charset="-122"/>
                <a:cs typeface="Segoe UI" pitchFamily="34" charset="-120"/>
              </a:rPr>
              <a:t>Why people quit — four reasons, one outcome</a:t>
            </a:r>
            <a:endParaRPr lang="en-US" sz="3000" dirty="0"/>
          </a:p>
        </p:txBody>
      </p:sp>
      <p:sp>
        <p:nvSpPr>
          <p:cNvPr id="4" name="Text 2"/>
          <p:cNvSpPr/>
          <p:nvPr/>
        </p:nvSpPr>
        <p:spPr>
          <a:xfrm>
            <a:off x="566928" y="1225296"/>
            <a:ext cx="10881360" cy="292608"/>
          </a:xfrm>
          <a:prstGeom prst="rect">
            <a:avLst/>
          </a:prstGeom>
          <a:noFill/>
          <a:ln/>
        </p:spPr>
        <p:txBody>
          <a:bodyPr wrap="square" lIns="0" tIns="0" rIns="0" bIns="0" rtlCol="0" anchor="t"/>
          <a:lstStyle/>
          <a:p>
            <a:pPr algn="l" indent="0" marL="0">
              <a:lnSpc>
                <a:spcPct val="110000"/>
              </a:lnSpc>
              <a:buNone/>
            </a:pPr>
            <a:r>
              <a:rPr lang="en-US" sz="1300" dirty="0">
                <a:solidFill>
                  <a:srgbClr val="5B6382"/>
                </a:solidFill>
                <a:latin typeface="Segoe UI" pitchFamily="34" charset="0"/>
                <a:ea typeface="Segoe UI" pitchFamily="34" charset="-122"/>
                <a:cs typeface="Segoe UI" pitchFamily="34" charset="-120"/>
              </a:rPr>
              <a:t>Not laziness. These four, from watching how people around us actually track.</a:t>
            </a:r>
            <a:endParaRPr lang="en-US" sz="1300" dirty="0"/>
          </a:p>
        </p:txBody>
      </p:sp>
      <p:sp>
        <p:nvSpPr>
          <p:cNvPr id="5" name="Shape 3"/>
          <p:cNvSpPr/>
          <p:nvPr/>
        </p:nvSpPr>
        <p:spPr>
          <a:xfrm>
            <a:off x="548640" y="1700784"/>
            <a:ext cx="2615184" cy="2907792"/>
          </a:xfrm>
          <a:prstGeom prst="roundRect">
            <a:avLst>
              <a:gd name="adj" fmla="val 3497"/>
            </a:avLst>
          </a:prstGeom>
          <a:solidFill>
            <a:srgbClr val="FFFFFF"/>
          </a:solidFill>
          <a:ln w="12700">
            <a:solidFill>
              <a:srgbClr val="E2E5F0"/>
            </a:solidFill>
            <a:prstDash val="solid"/>
          </a:ln>
        </p:spPr>
      </p:sp>
      <p:sp>
        <p:nvSpPr>
          <p:cNvPr id="6" name="Shape 4"/>
          <p:cNvSpPr/>
          <p:nvPr/>
        </p:nvSpPr>
        <p:spPr>
          <a:xfrm>
            <a:off x="804672" y="1883664"/>
            <a:ext cx="512064" cy="402336"/>
          </a:xfrm>
          <a:prstGeom prst="roundRect">
            <a:avLst>
              <a:gd name="adj" fmla="val 22727"/>
            </a:avLst>
          </a:prstGeom>
          <a:solidFill>
            <a:srgbClr val="E8F8F2"/>
          </a:solidFill>
          <a:ln w="12700">
            <a:solidFill>
              <a:srgbClr val="E8F8F2"/>
            </a:solidFill>
            <a:prstDash val="solid"/>
          </a:ln>
        </p:spPr>
      </p:sp>
      <p:sp>
        <p:nvSpPr>
          <p:cNvPr id="7" name="Text 5"/>
          <p:cNvSpPr/>
          <p:nvPr/>
        </p:nvSpPr>
        <p:spPr>
          <a:xfrm>
            <a:off x="804672" y="1883664"/>
            <a:ext cx="512064" cy="402336"/>
          </a:xfrm>
          <a:prstGeom prst="rect">
            <a:avLst/>
          </a:prstGeom>
          <a:noFill/>
          <a:ln/>
        </p:spPr>
        <p:txBody>
          <a:bodyPr wrap="square" lIns="0" tIns="0" rIns="0" bIns="0" rtlCol="0" anchor="ctr"/>
          <a:lstStyle/>
          <a:p>
            <a:pPr algn="ctr" indent="0" marL="0">
              <a:lnSpc>
                <a:spcPct val="110000"/>
              </a:lnSpc>
              <a:buNone/>
            </a:pPr>
            <a:r>
              <a:rPr lang="en-US" sz="1100" b="1" dirty="0">
                <a:solidFill>
                  <a:srgbClr val="0B8F65"/>
                </a:solidFill>
                <a:latin typeface="Segoe UI" pitchFamily="34" charset="0"/>
                <a:ea typeface="Segoe UI" pitchFamily="34" charset="-122"/>
                <a:cs typeface="Segoe UI" pitchFamily="34" charset="-120"/>
              </a:rPr>
              <a:t>01</a:t>
            </a:r>
            <a:endParaRPr lang="en-US" sz="1100" dirty="0"/>
          </a:p>
        </p:txBody>
      </p:sp>
      <p:sp>
        <p:nvSpPr>
          <p:cNvPr id="8" name="Text 6"/>
          <p:cNvSpPr/>
          <p:nvPr/>
        </p:nvSpPr>
        <p:spPr>
          <a:xfrm>
            <a:off x="804672" y="2432304"/>
            <a:ext cx="2148840" cy="658368"/>
          </a:xfrm>
          <a:prstGeom prst="rect">
            <a:avLst/>
          </a:prstGeom>
          <a:noFill/>
          <a:ln/>
        </p:spPr>
        <p:txBody>
          <a:bodyPr wrap="square" lIns="0" tIns="0" rIns="0" bIns="0" rtlCol="0" anchor="t"/>
          <a:lstStyle/>
          <a:p>
            <a:pPr algn="l" indent="0" marL="0">
              <a:lnSpc>
                <a:spcPct val="108000"/>
              </a:lnSpc>
              <a:buNone/>
            </a:pPr>
            <a:r>
              <a:rPr lang="en-US" sz="1450" b="1" dirty="0">
                <a:solidFill>
                  <a:srgbClr val="11162E"/>
                </a:solidFill>
                <a:latin typeface="Segoe UI" pitchFamily="34" charset="0"/>
                <a:ea typeface="Segoe UI" pitchFamily="34" charset="-122"/>
                <a:cs typeface="Segoe UI" pitchFamily="34" charset="-120"/>
              </a:rPr>
              <a:t>Records live everywhere</a:t>
            </a:r>
            <a:endParaRPr lang="en-US" sz="1450" dirty="0"/>
          </a:p>
        </p:txBody>
      </p:sp>
      <p:sp>
        <p:nvSpPr>
          <p:cNvPr id="9" name="Text 7"/>
          <p:cNvSpPr/>
          <p:nvPr/>
        </p:nvSpPr>
        <p:spPr>
          <a:xfrm>
            <a:off x="804672" y="3163824"/>
            <a:ext cx="2148840" cy="1280160"/>
          </a:xfrm>
          <a:prstGeom prst="rect">
            <a:avLst/>
          </a:prstGeom>
          <a:noFill/>
          <a:ln/>
        </p:spPr>
        <p:txBody>
          <a:bodyPr wrap="square" lIns="0" tIns="0" rIns="0" bIns="0" rtlCol="0" anchor="t"/>
          <a:lstStyle/>
          <a:p>
            <a:pPr algn="l" indent="0" marL="0">
              <a:lnSpc>
                <a:spcPct val="132000"/>
              </a:lnSpc>
              <a:buNone/>
            </a:pPr>
            <a:r>
              <a:rPr lang="en-US" sz="1080" dirty="0">
                <a:solidFill>
                  <a:srgbClr val="5B6382"/>
                </a:solidFill>
                <a:latin typeface="Segoe UI" pitchFamily="34" charset="0"/>
                <a:ea typeface="Segoe UI" pitchFamily="34" charset="-122"/>
                <a:cs typeface="Segoe UI" pitchFamily="34" charset="-120"/>
              </a:rPr>
              <a:t>Workouts in a notebook, meals in memory, sleep recorded nowhere. No full picture, so no proof of progress.</a:t>
            </a:r>
            <a:endParaRPr lang="en-US" sz="1080" dirty="0"/>
          </a:p>
        </p:txBody>
      </p:sp>
      <p:sp>
        <p:nvSpPr>
          <p:cNvPr id="10" name="Shape 8"/>
          <p:cNvSpPr/>
          <p:nvPr/>
        </p:nvSpPr>
        <p:spPr>
          <a:xfrm>
            <a:off x="3401568" y="1700784"/>
            <a:ext cx="2615184" cy="2907792"/>
          </a:xfrm>
          <a:prstGeom prst="roundRect">
            <a:avLst>
              <a:gd name="adj" fmla="val 3497"/>
            </a:avLst>
          </a:prstGeom>
          <a:solidFill>
            <a:srgbClr val="FFFFFF"/>
          </a:solidFill>
          <a:ln w="12700">
            <a:solidFill>
              <a:srgbClr val="E2E5F0"/>
            </a:solidFill>
            <a:prstDash val="solid"/>
          </a:ln>
        </p:spPr>
      </p:sp>
      <p:sp>
        <p:nvSpPr>
          <p:cNvPr id="11" name="Shape 9"/>
          <p:cNvSpPr/>
          <p:nvPr/>
        </p:nvSpPr>
        <p:spPr>
          <a:xfrm>
            <a:off x="3657600" y="1883664"/>
            <a:ext cx="512064" cy="402336"/>
          </a:xfrm>
          <a:prstGeom prst="roundRect">
            <a:avLst>
              <a:gd name="adj" fmla="val 22727"/>
            </a:avLst>
          </a:prstGeom>
          <a:solidFill>
            <a:srgbClr val="EFEBFF"/>
          </a:solidFill>
          <a:ln w="12700">
            <a:solidFill>
              <a:srgbClr val="EFEBFF"/>
            </a:solidFill>
            <a:prstDash val="solid"/>
          </a:ln>
        </p:spPr>
      </p:sp>
      <p:sp>
        <p:nvSpPr>
          <p:cNvPr id="12" name="Text 10"/>
          <p:cNvSpPr/>
          <p:nvPr/>
        </p:nvSpPr>
        <p:spPr>
          <a:xfrm>
            <a:off x="3657600" y="1883664"/>
            <a:ext cx="512064" cy="402336"/>
          </a:xfrm>
          <a:prstGeom prst="rect">
            <a:avLst/>
          </a:prstGeom>
          <a:noFill/>
          <a:ln/>
        </p:spPr>
        <p:txBody>
          <a:bodyPr wrap="square" lIns="0" tIns="0" rIns="0" bIns="0" rtlCol="0" anchor="ctr"/>
          <a:lstStyle/>
          <a:p>
            <a:pPr algn="ctr" indent="0" marL="0">
              <a:lnSpc>
                <a:spcPct val="110000"/>
              </a:lnSpc>
              <a:buNone/>
            </a:pPr>
            <a:r>
              <a:rPr lang="en-US" sz="1100" b="1" dirty="0">
                <a:solidFill>
                  <a:srgbClr val="7C5CFF"/>
                </a:solidFill>
                <a:latin typeface="Segoe UI" pitchFamily="34" charset="0"/>
                <a:ea typeface="Segoe UI" pitchFamily="34" charset="-122"/>
                <a:cs typeface="Segoe UI" pitchFamily="34" charset="-120"/>
              </a:rPr>
              <a:t>02</a:t>
            </a:r>
            <a:endParaRPr lang="en-US" sz="1100" dirty="0"/>
          </a:p>
        </p:txBody>
      </p:sp>
      <p:sp>
        <p:nvSpPr>
          <p:cNvPr id="13" name="Text 11"/>
          <p:cNvSpPr/>
          <p:nvPr/>
        </p:nvSpPr>
        <p:spPr>
          <a:xfrm>
            <a:off x="3657600" y="2432304"/>
            <a:ext cx="2148840" cy="658368"/>
          </a:xfrm>
          <a:prstGeom prst="rect">
            <a:avLst/>
          </a:prstGeom>
          <a:noFill/>
          <a:ln/>
        </p:spPr>
        <p:txBody>
          <a:bodyPr wrap="square" lIns="0" tIns="0" rIns="0" bIns="0" rtlCol="0" anchor="t"/>
          <a:lstStyle/>
          <a:p>
            <a:pPr algn="l" indent="0" marL="0">
              <a:lnSpc>
                <a:spcPct val="108000"/>
              </a:lnSpc>
              <a:buNone/>
            </a:pPr>
            <a:r>
              <a:rPr lang="en-US" sz="1450" b="1" dirty="0">
                <a:solidFill>
                  <a:srgbClr val="11162E"/>
                </a:solidFill>
                <a:latin typeface="Segoe UI" pitchFamily="34" charset="0"/>
                <a:ea typeface="Segoe UI" pitchFamily="34" charset="-122"/>
                <a:cs typeface="Segoe UI" pitchFamily="34" charset="-120"/>
              </a:rPr>
              <a:t>Apps don’t know our food</a:t>
            </a:r>
            <a:endParaRPr lang="en-US" sz="1450" dirty="0"/>
          </a:p>
        </p:txBody>
      </p:sp>
      <p:sp>
        <p:nvSpPr>
          <p:cNvPr id="14" name="Text 12"/>
          <p:cNvSpPr/>
          <p:nvPr/>
        </p:nvSpPr>
        <p:spPr>
          <a:xfrm>
            <a:off x="3657600" y="3163824"/>
            <a:ext cx="2148840" cy="1280160"/>
          </a:xfrm>
          <a:prstGeom prst="rect">
            <a:avLst/>
          </a:prstGeom>
          <a:noFill/>
          <a:ln/>
        </p:spPr>
        <p:txBody>
          <a:bodyPr wrap="square" lIns="0" tIns="0" rIns="0" bIns="0" rtlCol="0" anchor="t"/>
          <a:lstStyle/>
          <a:p>
            <a:pPr algn="l" indent="0" marL="0">
              <a:lnSpc>
                <a:spcPct val="132000"/>
              </a:lnSpc>
              <a:buNone/>
            </a:pPr>
            <a:r>
              <a:rPr lang="en-US" sz="1080" dirty="0">
                <a:solidFill>
                  <a:srgbClr val="5B6382"/>
                </a:solidFill>
                <a:latin typeface="Segoe UI" pitchFamily="34" charset="0"/>
                <a:ea typeface="Segoe UI" pitchFamily="34" charset="-122"/>
                <a:cs typeface="Segoe UI" pitchFamily="34" charset="-120"/>
              </a:rPr>
              <a:t>Try logging eba, ofada rice or moi moi. It becomes guesswork — so people stop logging.</a:t>
            </a:r>
            <a:endParaRPr lang="en-US" sz="1080" dirty="0"/>
          </a:p>
        </p:txBody>
      </p:sp>
      <p:sp>
        <p:nvSpPr>
          <p:cNvPr id="15" name="Shape 13"/>
          <p:cNvSpPr/>
          <p:nvPr/>
        </p:nvSpPr>
        <p:spPr>
          <a:xfrm>
            <a:off x="6254496" y="1700784"/>
            <a:ext cx="2615184" cy="2907792"/>
          </a:xfrm>
          <a:prstGeom prst="roundRect">
            <a:avLst>
              <a:gd name="adj" fmla="val 3497"/>
            </a:avLst>
          </a:prstGeom>
          <a:solidFill>
            <a:srgbClr val="FFFFFF"/>
          </a:solidFill>
          <a:ln w="12700">
            <a:solidFill>
              <a:srgbClr val="E2E5F0"/>
            </a:solidFill>
            <a:prstDash val="solid"/>
          </a:ln>
        </p:spPr>
      </p:sp>
      <p:sp>
        <p:nvSpPr>
          <p:cNvPr id="16" name="Shape 14"/>
          <p:cNvSpPr/>
          <p:nvPr/>
        </p:nvSpPr>
        <p:spPr>
          <a:xfrm>
            <a:off x="6510528" y="1883664"/>
            <a:ext cx="512064" cy="402336"/>
          </a:xfrm>
          <a:prstGeom prst="roundRect">
            <a:avLst>
              <a:gd name="adj" fmla="val 22727"/>
            </a:avLst>
          </a:prstGeom>
          <a:solidFill>
            <a:srgbClr val="FFF1E6"/>
          </a:solidFill>
          <a:ln w="12700">
            <a:solidFill>
              <a:srgbClr val="FFF1E6"/>
            </a:solidFill>
            <a:prstDash val="solid"/>
          </a:ln>
        </p:spPr>
      </p:sp>
      <p:sp>
        <p:nvSpPr>
          <p:cNvPr id="17" name="Text 15"/>
          <p:cNvSpPr/>
          <p:nvPr/>
        </p:nvSpPr>
        <p:spPr>
          <a:xfrm>
            <a:off x="6510528" y="1883664"/>
            <a:ext cx="512064" cy="402336"/>
          </a:xfrm>
          <a:prstGeom prst="rect">
            <a:avLst/>
          </a:prstGeom>
          <a:noFill/>
          <a:ln/>
        </p:spPr>
        <p:txBody>
          <a:bodyPr wrap="square" lIns="0" tIns="0" rIns="0" bIns="0" rtlCol="0" anchor="ctr"/>
          <a:lstStyle/>
          <a:p>
            <a:pPr algn="ctr" indent="0" marL="0">
              <a:lnSpc>
                <a:spcPct val="110000"/>
              </a:lnSpc>
              <a:buNone/>
            </a:pPr>
            <a:r>
              <a:rPr lang="en-US" sz="1100" b="1" dirty="0">
                <a:solidFill>
                  <a:srgbClr val="F97316"/>
                </a:solidFill>
                <a:latin typeface="Segoe UI" pitchFamily="34" charset="0"/>
                <a:ea typeface="Segoe UI" pitchFamily="34" charset="-122"/>
                <a:cs typeface="Segoe UI" pitchFamily="34" charset="-120"/>
              </a:rPr>
              <a:t>03</a:t>
            </a:r>
            <a:endParaRPr lang="en-US" sz="1100" dirty="0"/>
          </a:p>
        </p:txBody>
      </p:sp>
      <p:sp>
        <p:nvSpPr>
          <p:cNvPr id="18" name="Text 16"/>
          <p:cNvSpPr/>
          <p:nvPr/>
        </p:nvSpPr>
        <p:spPr>
          <a:xfrm>
            <a:off x="6510528" y="2432304"/>
            <a:ext cx="2148840" cy="658368"/>
          </a:xfrm>
          <a:prstGeom prst="rect">
            <a:avLst/>
          </a:prstGeom>
          <a:noFill/>
          <a:ln/>
        </p:spPr>
        <p:txBody>
          <a:bodyPr wrap="square" lIns="0" tIns="0" rIns="0" bIns="0" rtlCol="0" anchor="t"/>
          <a:lstStyle/>
          <a:p>
            <a:pPr algn="l" indent="0" marL="0">
              <a:lnSpc>
                <a:spcPct val="108000"/>
              </a:lnSpc>
              <a:buNone/>
            </a:pPr>
            <a:r>
              <a:rPr lang="en-US" sz="1450" b="1" dirty="0">
                <a:solidFill>
                  <a:srgbClr val="11162E"/>
                </a:solidFill>
                <a:latin typeface="Segoe UI" pitchFamily="34" charset="0"/>
                <a:ea typeface="Segoe UI" pitchFamily="34" charset="-122"/>
                <a:cs typeface="Segoe UI" pitchFamily="34" charset="-120"/>
              </a:rPr>
              <a:t>Every plan is the same plan</a:t>
            </a:r>
            <a:endParaRPr lang="en-US" sz="1450" dirty="0"/>
          </a:p>
        </p:txBody>
      </p:sp>
      <p:sp>
        <p:nvSpPr>
          <p:cNvPr id="19" name="Text 17"/>
          <p:cNvSpPr/>
          <p:nvPr/>
        </p:nvSpPr>
        <p:spPr>
          <a:xfrm>
            <a:off x="6510528" y="3163824"/>
            <a:ext cx="2148840" cy="1280160"/>
          </a:xfrm>
          <a:prstGeom prst="rect">
            <a:avLst/>
          </a:prstGeom>
          <a:noFill/>
          <a:ln/>
        </p:spPr>
        <p:txBody>
          <a:bodyPr wrap="square" lIns="0" tIns="0" rIns="0" bIns="0" rtlCol="0" anchor="t"/>
          <a:lstStyle/>
          <a:p>
            <a:pPr algn="l" indent="0" marL="0">
              <a:lnSpc>
                <a:spcPct val="132000"/>
              </a:lnSpc>
              <a:buNone/>
            </a:pPr>
            <a:r>
              <a:rPr lang="en-US" sz="1080" dirty="0">
                <a:solidFill>
                  <a:srgbClr val="5B6382"/>
                </a:solidFill>
                <a:latin typeface="Segoe UI" pitchFamily="34" charset="0"/>
                <a:ea typeface="Segoe UI" pitchFamily="34" charset="-122"/>
                <a:cs typeface="Segoe UI" pitchFamily="34" charset="-120"/>
              </a:rPr>
              <a:t>The beginner and the gym regular get identical advice, so it fits neither of them.</a:t>
            </a:r>
            <a:endParaRPr lang="en-US" sz="1080" dirty="0"/>
          </a:p>
        </p:txBody>
      </p:sp>
      <p:sp>
        <p:nvSpPr>
          <p:cNvPr id="20" name="Shape 18"/>
          <p:cNvSpPr/>
          <p:nvPr/>
        </p:nvSpPr>
        <p:spPr>
          <a:xfrm>
            <a:off x="9107424" y="1700784"/>
            <a:ext cx="2615184" cy="2907792"/>
          </a:xfrm>
          <a:prstGeom prst="roundRect">
            <a:avLst>
              <a:gd name="adj" fmla="val 3497"/>
            </a:avLst>
          </a:prstGeom>
          <a:solidFill>
            <a:srgbClr val="FFFFFF"/>
          </a:solidFill>
          <a:ln w="12700">
            <a:solidFill>
              <a:srgbClr val="E2E5F0"/>
            </a:solidFill>
            <a:prstDash val="solid"/>
          </a:ln>
        </p:spPr>
      </p:sp>
      <p:sp>
        <p:nvSpPr>
          <p:cNvPr id="21" name="Shape 19"/>
          <p:cNvSpPr/>
          <p:nvPr/>
        </p:nvSpPr>
        <p:spPr>
          <a:xfrm>
            <a:off x="9363456" y="1883664"/>
            <a:ext cx="512064" cy="402336"/>
          </a:xfrm>
          <a:prstGeom prst="roundRect">
            <a:avLst>
              <a:gd name="adj" fmla="val 22727"/>
            </a:avLst>
          </a:prstGeom>
          <a:solidFill>
            <a:srgbClr val="E9F1FE"/>
          </a:solidFill>
          <a:ln w="12700">
            <a:solidFill>
              <a:srgbClr val="E9F1FE"/>
            </a:solidFill>
            <a:prstDash val="solid"/>
          </a:ln>
        </p:spPr>
      </p:sp>
      <p:sp>
        <p:nvSpPr>
          <p:cNvPr id="22" name="Text 20"/>
          <p:cNvSpPr/>
          <p:nvPr/>
        </p:nvSpPr>
        <p:spPr>
          <a:xfrm>
            <a:off x="9363456" y="1883664"/>
            <a:ext cx="512064" cy="402336"/>
          </a:xfrm>
          <a:prstGeom prst="rect">
            <a:avLst/>
          </a:prstGeom>
          <a:noFill/>
          <a:ln/>
        </p:spPr>
        <p:txBody>
          <a:bodyPr wrap="square" lIns="0" tIns="0" rIns="0" bIns="0" rtlCol="0" anchor="ctr"/>
          <a:lstStyle/>
          <a:p>
            <a:pPr algn="ctr" indent="0" marL="0">
              <a:lnSpc>
                <a:spcPct val="110000"/>
              </a:lnSpc>
              <a:buNone/>
            </a:pPr>
            <a:r>
              <a:rPr lang="en-US" sz="1100" b="1" dirty="0">
                <a:solidFill>
                  <a:srgbClr val="2F80ED"/>
                </a:solidFill>
                <a:latin typeface="Segoe UI" pitchFamily="34" charset="0"/>
                <a:ea typeface="Segoe UI" pitchFamily="34" charset="-122"/>
                <a:cs typeface="Segoe UI" pitchFamily="34" charset="-120"/>
              </a:rPr>
              <a:t>04</a:t>
            </a:r>
            <a:endParaRPr lang="en-US" sz="1100" dirty="0"/>
          </a:p>
        </p:txBody>
      </p:sp>
      <p:sp>
        <p:nvSpPr>
          <p:cNvPr id="23" name="Text 21"/>
          <p:cNvSpPr/>
          <p:nvPr/>
        </p:nvSpPr>
        <p:spPr>
          <a:xfrm>
            <a:off x="9363456" y="2432304"/>
            <a:ext cx="2148840" cy="658368"/>
          </a:xfrm>
          <a:prstGeom prst="rect">
            <a:avLst/>
          </a:prstGeom>
          <a:noFill/>
          <a:ln/>
        </p:spPr>
        <p:txBody>
          <a:bodyPr wrap="square" lIns="0" tIns="0" rIns="0" bIns="0" rtlCol="0" anchor="t"/>
          <a:lstStyle/>
          <a:p>
            <a:pPr algn="l" indent="0" marL="0">
              <a:lnSpc>
                <a:spcPct val="108000"/>
              </a:lnSpc>
              <a:buNone/>
            </a:pPr>
            <a:r>
              <a:rPr lang="en-US" sz="1450" b="1" dirty="0">
                <a:solidFill>
                  <a:srgbClr val="11162E"/>
                </a:solidFill>
                <a:latin typeface="Segoe UI" pitchFamily="34" charset="0"/>
                <a:ea typeface="Segoe UI" pitchFamily="34" charset="-122"/>
                <a:cs typeface="Segoe UI" pitchFamily="34" charset="-120"/>
              </a:rPr>
              <a:t>Nobody checks in</a:t>
            </a:r>
            <a:endParaRPr lang="en-US" sz="1450" dirty="0"/>
          </a:p>
        </p:txBody>
      </p:sp>
      <p:sp>
        <p:nvSpPr>
          <p:cNvPr id="24" name="Text 22"/>
          <p:cNvSpPr/>
          <p:nvPr/>
        </p:nvSpPr>
        <p:spPr>
          <a:xfrm>
            <a:off x="9363456" y="3163824"/>
            <a:ext cx="2148840" cy="1280160"/>
          </a:xfrm>
          <a:prstGeom prst="rect">
            <a:avLst/>
          </a:prstGeom>
          <a:noFill/>
          <a:ln/>
        </p:spPr>
        <p:txBody>
          <a:bodyPr wrap="square" lIns="0" tIns="0" rIns="0" bIns="0" rtlCol="0" anchor="t"/>
          <a:lstStyle/>
          <a:p>
            <a:pPr algn="l" indent="0" marL="0">
              <a:lnSpc>
                <a:spcPct val="132000"/>
              </a:lnSpc>
              <a:buNone/>
            </a:pPr>
            <a:r>
              <a:rPr lang="en-US" sz="1080" dirty="0">
                <a:solidFill>
                  <a:srgbClr val="5B6382"/>
                </a:solidFill>
                <a:latin typeface="Segoe UI" pitchFamily="34" charset="0"/>
                <a:ea typeface="Segoe UI" pitchFamily="34" charset="-122"/>
                <a:cs typeface="Segoe UI" pitchFamily="34" charset="-120"/>
              </a:rPr>
              <a:t>No partner, no reminder, no streak. One missed week quietly becomes a missed month, then it is deleted.</a:t>
            </a:r>
            <a:endParaRPr lang="en-US" sz="1080" dirty="0"/>
          </a:p>
        </p:txBody>
      </p:sp>
      <p:sp>
        <p:nvSpPr>
          <p:cNvPr id="25" name="Text 23"/>
          <p:cNvSpPr/>
          <p:nvPr/>
        </p:nvSpPr>
        <p:spPr>
          <a:xfrm>
            <a:off x="548640" y="4956048"/>
            <a:ext cx="11091672" cy="457200"/>
          </a:xfrm>
          <a:prstGeom prst="rect">
            <a:avLst/>
          </a:prstGeom>
          <a:noFill/>
          <a:ln/>
        </p:spPr>
        <p:txBody>
          <a:bodyPr wrap="square" lIns="0" tIns="0" rIns="0" bIns="0" rtlCol="0" anchor="t"/>
          <a:lstStyle/>
          <a:p>
            <a:pPr algn="ctr" indent="0" marL="0">
              <a:lnSpc>
                <a:spcPct val="110000"/>
              </a:lnSpc>
              <a:buNone/>
            </a:pPr>
            <a:r>
              <a:rPr lang="en-US" sz="1900" b="1" i="1" dirty="0">
                <a:solidFill>
                  <a:srgbClr val="0B8F65"/>
                </a:solidFill>
                <a:latin typeface="Segoe UI" pitchFamily="34" charset="0"/>
                <a:ea typeface="Segoe UI" pitchFamily="34" charset="-122"/>
                <a:cs typeface="Segoe UI" pitchFamily="34" charset="-120"/>
              </a:rPr>
              <a:t>“You can’t stay motivated by progress you can’t see.”</a:t>
            </a:r>
            <a:endParaRPr lang="en-US" sz="1900" dirty="0"/>
          </a:p>
        </p:txBody>
      </p:sp>
      <p:sp>
        <p:nvSpPr>
          <p:cNvPr id="26" name="Text 24"/>
          <p:cNvSpPr/>
          <p:nvPr/>
        </p:nvSpPr>
        <p:spPr>
          <a:xfrm>
            <a:off x="548640" y="5431536"/>
            <a:ext cx="11091672" cy="256032"/>
          </a:xfrm>
          <a:prstGeom prst="rect">
            <a:avLst/>
          </a:prstGeom>
          <a:noFill/>
          <a:ln/>
        </p:spPr>
        <p:txBody>
          <a:bodyPr wrap="square" lIns="0" tIns="0" rIns="0" bIns="0" rtlCol="0" anchor="t"/>
          <a:lstStyle/>
          <a:p>
            <a:pPr algn="ctr" indent="0" marL="0">
              <a:lnSpc>
                <a:spcPct val="110000"/>
              </a:lnSpc>
              <a:buNone/>
            </a:pPr>
            <a:r>
              <a:rPr lang="en-US" sz="1050" dirty="0">
                <a:solidFill>
                  <a:srgbClr val="98A0BC"/>
                </a:solidFill>
                <a:latin typeface="Segoe UI" pitchFamily="34" charset="0"/>
                <a:ea typeface="Segoe UI" pitchFamily="34" charset="-122"/>
                <a:cs typeface="Segoe UI" pitchFamily="34" charset="-120"/>
              </a:rPr>
              <a:t>The observation that started CalFit.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66928" y="365760"/>
            <a:ext cx="10789920" cy="237744"/>
          </a:xfrm>
          <a:prstGeom prst="rect">
            <a:avLst/>
          </a:prstGeom>
          <a:noFill/>
          <a:ln/>
        </p:spPr>
        <p:txBody>
          <a:bodyPr wrap="square" lIns="0" tIns="0" rIns="0" bIns="0" rtlCol="0" anchor="t"/>
          <a:lstStyle/>
          <a:p>
            <a:pPr algn="l" indent="0" marL="0">
              <a:lnSpc>
                <a:spcPct val="110000"/>
              </a:lnSpc>
              <a:buNone/>
            </a:pPr>
            <a:r>
              <a:rPr lang="en-US" sz="1000" b="1" spc="240" kern="0" dirty="0">
                <a:solidFill>
                  <a:srgbClr val="0B8F65"/>
                </a:solidFill>
                <a:latin typeface="Segoe UI" pitchFamily="34" charset="0"/>
                <a:ea typeface="Segoe UI" pitchFamily="34" charset="-122"/>
                <a:cs typeface="Segoe UI" pitchFamily="34" charset="-120"/>
              </a:rPr>
              <a:t>THE SOLUTION</a:t>
            </a:r>
            <a:endParaRPr lang="en-US" sz="1000" dirty="0"/>
          </a:p>
        </p:txBody>
      </p:sp>
      <p:sp>
        <p:nvSpPr>
          <p:cNvPr id="3" name="Text 1"/>
          <p:cNvSpPr/>
          <p:nvPr/>
        </p:nvSpPr>
        <p:spPr>
          <a:xfrm>
            <a:off x="548640" y="640080"/>
            <a:ext cx="11064240" cy="548640"/>
          </a:xfrm>
          <a:prstGeom prst="rect">
            <a:avLst/>
          </a:prstGeom>
          <a:noFill/>
          <a:ln/>
        </p:spPr>
        <p:txBody>
          <a:bodyPr wrap="square" lIns="0" tIns="0" rIns="0" bIns="0" rtlCol="0" anchor="t"/>
          <a:lstStyle/>
          <a:p>
            <a:pPr algn="l" indent="0" marL="0">
              <a:lnSpc>
                <a:spcPct val="110000"/>
              </a:lnSpc>
              <a:buNone/>
            </a:pPr>
            <a:r>
              <a:rPr lang="en-US" sz="3000" b="1" dirty="0">
                <a:solidFill>
                  <a:srgbClr val="11162E"/>
                </a:solidFill>
                <a:latin typeface="Segoe UI" pitchFamily="34" charset="0"/>
                <a:ea typeface="Segoe UI" pitchFamily="34" charset="-122"/>
                <a:cs typeface="Segoe UI" pitchFamily="34" charset="-120"/>
              </a:rPr>
              <a:t>One app that removes all four reasons</a:t>
            </a:r>
            <a:endParaRPr lang="en-US" sz="3000" dirty="0"/>
          </a:p>
        </p:txBody>
      </p:sp>
      <p:sp>
        <p:nvSpPr>
          <p:cNvPr id="4" name="Text 2"/>
          <p:cNvSpPr/>
          <p:nvPr/>
        </p:nvSpPr>
        <p:spPr>
          <a:xfrm>
            <a:off x="566928" y="1225296"/>
            <a:ext cx="10881360" cy="292608"/>
          </a:xfrm>
          <a:prstGeom prst="rect">
            <a:avLst/>
          </a:prstGeom>
          <a:noFill/>
          <a:ln/>
        </p:spPr>
        <p:txBody>
          <a:bodyPr wrap="square" lIns="0" tIns="0" rIns="0" bIns="0" rtlCol="0" anchor="t"/>
          <a:lstStyle/>
          <a:p>
            <a:pPr algn="l" indent="0" marL="0">
              <a:lnSpc>
                <a:spcPct val="110000"/>
              </a:lnSpc>
              <a:buNone/>
            </a:pPr>
            <a:r>
              <a:rPr lang="en-US" sz="1300" dirty="0">
                <a:solidFill>
                  <a:srgbClr val="5B6382"/>
                </a:solidFill>
                <a:latin typeface="Segoe UI" pitchFamily="34" charset="0"/>
                <a:ea typeface="Segoe UI" pitchFamily="34" charset="-122"/>
                <a:cs typeface="Segoe UI" pitchFamily="34" charset="-120"/>
              </a:rPr>
              <a:t>Each feature answers one specific cause — not a list we liked the look of.</a:t>
            </a:r>
            <a:endParaRPr lang="en-US" sz="1300" dirty="0"/>
          </a:p>
        </p:txBody>
      </p:sp>
      <p:sp>
        <p:nvSpPr>
          <p:cNvPr id="5" name="Text 3"/>
          <p:cNvSpPr/>
          <p:nvPr/>
        </p:nvSpPr>
        <p:spPr>
          <a:xfrm>
            <a:off x="566928" y="1627632"/>
            <a:ext cx="4572000" cy="219456"/>
          </a:xfrm>
          <a:prstGeom prst="rect">
            <a:avLst/>
          </a:prstGeom>
          <a:noFill/>
          <a:ln/>
        </p:spPr>
        <p:txBody>
          <a:bodyPr wrap="square" lIns="0" tIns="0" rIns="0" bIns="0" rtlCol="0" anchor="t"/>
          <a:lstStyle/>
          <a:p>
            <a:pPr algn="l" indent="0" marL="0">
              <a:lnSpc>
                <a:spcPct val="110000"/>
              </a:lnSpc>
              <a:buNone/>
            </a:pPr>
            <a:r>
              <a:rPr lang="en-US" sz="900" b="1" spc="180" kern="0" dirty="0">
                <a:solidFill>
                  <a:srgbClr val="98A0BC"/>
                </a:solidFill>
                <a:latin typeface="Segoe UI" pitchFamily="34" charset="0"/>
                <a:ea typeface="Segoe UI" pitchFamily="34" charset="-122"/>
                <a:cs typeface="Segoe UI" pitchFamily="34" charset="-120"/>
              </a:rPr>
              <a:t>WHAT WAS BREAKING</a:t>
            </a:r>
            <a:endParaRPr lang="en-US" sz="900" dirty="0"/>
          </a:p>
        </p:txBody>
      </p:sp>
      <p:sp>
        <p:nvSpPr>
          <p:cNvPr id="6" name="Text 4"/>
          <p:cNvSpPr/>
          <p:nvPr/>
        </p:nvSpPr>
        <p:spPr>
          <a:xfrm>
            <a:off x="6035040" y="1627632"/>
            <a:ext cx="5486400" cy="219456"/>
          </a:xfrm>
          <a:prstGeom prst="rect">
            <a:avLst/>
          </a:prstGeom>
          <a:noFill/>
          <a:ln/>
        </p:spPr>
        <p:txBody>
          <a:bodyPr wrap="square" lIns="0" tIns="0" rIns="0" bIns="0" rtlCol="0" anchor="t"/>
          <a:lstStyle/>
          <a:p>
            <a:pPr algn="l" indent="0" marL="0">
              <a:lnSpc>
                <a:spcPct val="110000"/>
              </a:lnSpc>
              <a:buNone/>
            </a:pPr>
            <a:r>
              <a:rPr lang="en-US" sz="900" b="1" spc="180" kern="0" dirty="0">
                <a:solidFill>
                  <a:srgbClr val="0B8F65"/>
                </a:solidFill>
                <a:latin typeface="Segoe UI" pitchFamily="34" charset="0"/>
                <a:ea typeface="Segoe UI" pitchFamily="34" charset="-122"/>
                <a:cs typeface="Segoe UI" pitchFamily="34" charset="-120"/>
              </a:rPr>
              <a:t>WHAT CALFIT DOES INSTEAD</a:t>
            </a:r>
            <a:endParaRPr lang="en-US" sz="900" dirty="0"/>
          </a:p>
        </p:txBody>
      </p:sp>
      <p:sp>
        <p:nvSpPr>
          <p:cNvPr id="7" name="Shape 5"/>
          <p:cNvSpPr/>
          <p:nvPr/>
        </p:nvSpPr>
        <p:spPr>
          <a:xfrm>
            <a:off x="548640" y="1901952"/>
            <a:ext cx="4956048" cy="877824"/>
          </a:xfrm>
          <a:prstGeom prst="roundRect">
            <a:avLst>
              <a:gd name="adj" fmla="val 10417"/>
            </a:avLst>
          </a:prstGeom>
          <a:solidFill>
            <a:srgbClr val="FFFFFF"/>
          </a:solidFill>
          <a:ln w="12700">
            <a:solidFill>
              <a:srgbClr val="E2E5F0"/>
            </a:solidFill>
            <a:prstDash val="solid"/>
          </a:ln>
        </p:spPr>
      </p:sp>
      <p:sp>
        <p:nvSpPr>
          <p:cNvPr id="8" name="Text 6"/>
          <p:cNvSpPr/>
          <p:nvPr/>
        </p:nvSpPr>
        <p:spPr>
          <a:xfrm>
            <a:off x="822960" y="2167128"/>
            <a:ext cx="4434840" cy="384048"/>
          </a:xfrm>
          <a:prstGeom prst="rect">
            <a:avLst/>
          </a:prstGeom>
          <a:noFill/>
          <a:ln/>
        </p:spPr>
        <p:txBody>
          <a:bodyPr wrap="square" lIns="0" tIns="0" rIns="0" bIns="0" rtlCol="0" anchor="t"/>
          <a:lstStyle/>
          <a:p>
            <a:pPr algn="l" indent="0" marL="0">
              <a:lnSpc>
                <a:spcPct val="110000"/>
              </a:lnSpc>
              <a:buNone/>
            </a:pPr>
            <a:r>
              <a:rPr lang="en-US" sz="1300" b="1" dirty="0">
                <a:solidFill>
                  <a:srgbClr val="11162E"/>
                </a:solidFill>
                <a:latin typeface="Segoe UI" pitchFamily="34" charset="0"/>
                <a:ea typeface="Segoe UI" pitchFamily="34" charset="-122"/>
                <a:cs typeface="Segoe UI" pitchFamily="34" charset="-120"/>
              </a:rPr>
              <a:t>Scattered records</a:t>
            </a:r>
            <a:endParaRPr lang="en-US" sz="1300" dirty="0"/>
          </a:p>
        </p:txBody>
      </p:sp>
      <p:sp>
        <p:nvSpPr>
          <p:cNvPr id="9" name="Shape 7"/>
          <p:cNvSpPr/>
          <p:nvPr/>
        </p:nvSpPr>
        <p:spPr>
          <a:xfrm>
            <a:off x="5614416" y="2148840"/>
            <a:ext cx="274320" cy="384048"/>
          </a:xfrm>
          <a:prstGeom prst="chevron">
            <a:avLst/>
          </a:prstGeom>
          <a:solidFill>
            <a:srgbClr val="E8F8F2"/>
          </a:solidFill>
          <a:ln w="12700">
            <a:solidFill>
              <a:srgbClr val="E8F8F2"/>
            </a:solidFill>
            <a:prstDash val="solid"/>
          </a:ln>
        </p:spPr>
      </p:sp>
      <p:sp>
        <p:nvSpPr>
          <p:cNvPr id="10" name="Shape 8"/>
          <p:cNvSpPr/>
          <p:nvPr/>
        </p:nvSpPr>
        <p:spPr>
          <a:xfrm>
            <a:off x="5980176" y="1901952"/>
            <a:ext cx="5660136" cy="877824"/>
          </a:xfrm>
          <a:prstGeom prst="roundRect">
            <a:avLst>
              <a:gd name="adj" fmla="val 10417"/>
            </a:avLst>
          </a:prstGeom>
          <a:solidFill>
            <a:srgbClr val="FFFFFF"/>
          </a:solidFill>
          <a:ln w="12700">
            <a:solidFill>
              <a:srgbClr val="E2E5F0"/>
            </a:solidFill>
            <a:prstDash val="solid"/>
          </a:ln>
        </p:spPr>
      </p:sp>
      <p:sp>
        <p:nvSpPr>
          <p:cNvPr id="11" name="Shape 9"/>
          <p:cNvSpPr/>
          <p:nvPr/>
        </p:nvSpPr>
        <p:spPr>
          <a:xfrm>
            <a:off x="5980176" y="1993392"/>
            <a:ext cx="54864" cy="694944"/>
          </a:xfrm>
          <a:prstGeom prst="roundRect">
            <a:avLst>
              <a:gd name="adj" fmla="val 50000"/>
            </a:avLst>
          </a:prstGeom>
          <a:solidFill>
            <a:srgbClr val="10B981"/>
          </a:solidFill>
          <a:ln w="12700">
            <a:solidFill>
              <a:srgbClr val="10B981"/>
            </a:solidFill>
            <a:prstDash val="solid"/>
          </a:ln>
        </p:spPr>
      </p:sp>
      <p:sp>
        <p:nvSpPr>
          <p:cNvPr id="12" name="Text 10"/>
          <p:cNvSpPr/>
          <p:nvPr/>
        </p:nvSpPr>
        <p:spPr>
          <a:xfrm>
            <a:off x="6236208" y="2057400"/>
            <a:ext cx="5230368" cy="585216"/>
          </a:xfrm>
          <a:prstGeom prst="rect">
            <a:avLst/>
          </a:prstGeom>
          <a:noFill/>
          <a:ln/>
        </p:spPr>
        <p:txBody>
          <a:bodyPr wrap="square" lIns="0" tIns="0" rIns="0" bIns="0" rtlCol="0" anchor="t"/>
          <a:lstStyle/>
          <a:p>
            <a:pPr algn="l" indent="0" marL="0">
              <a:lnSpc>
                <a:spcPct val="120000"/>
              </a:lnSpc>
              <a:buNone/>
            </a:pPr>
            <a:r>
              <a:rPr lang="en-US" sz="1080" dirty="0">
                <a:solidFill>
                  <a:srgbClr val="5B6382"/>
                </a:solidFill>
                <a:latin typeface="Segoe UI" pitchFamily="34" charset="0"/>
                <a:ea typeface="Segoe UI" pitchFamily="34" charset="-122"/>
                <a:cs typeface="Segoe UI" pitchFamily="34" charset="-120"/>
              </a:rPr>
              <a:t>One dashboard for calories, macros, water, steps, sleep and workouts — plus week, month and year progress views with PDF export.</a:t>
            </a:r>
            <a:endParaRPr lang="en-US" sz="1080" dirty="0"/>
          </a:p>
        </p:txBody>
      </p:sp>
      <p:sp>
        <p:nvSpPr>
          <p:cNvPr id="13" name="Shape 11"/>
          <p:cNvSpPr/>
          <p:nvPr/>
        </p:nvSpPr>
        <p:spPr>
          <a:xfrm>
            <a:off x="548640" y="2926080"/>
            <a:ext cx="4956048" cy="877824"/>
          </a:xfrm>
          <a:prstGeom prst="roundRect">
            <a:avLst>
              <a:gd name="adj" fmla="val 10417"/>
            </a:avLst>
          </a:prstGeom>
          <a:solidFill>
            <a:srgbClr val="FFFFFF"/>
          </a:solidFill>
          <a:ln w="12700">
            <a:solidFill>
              <a:srgbClr val="E2E5F0"/>
            </a:solidFill>
            <a:prstDash val="solid"/>
          </a:ln>
        </p:spPr>
      </p:sp>
      <p:sp>
        <p:nvSpPr>
          <p:cNvPr id="14" name="Text 12"/>
          <p:cNvSpPr/>
          <p:nvPr/>
        </p:nvSpPr>
        <p:spPr>
          <a:xfrm>
            <a:off x="822960" y="3191256"/>
            <a:ext cx="4434840" cy="384048"/>
          </a:xfrm>
          <a:prstGeom prst="rect">
            <a:avLst/>
          </a:prstGeom>
          <a:noFill/>
          <a:ln/>
        </p:spPr>
        <p:txBody>
          <a:bodyPr wrap="square" lIns="0" tIns="0" rIns="0" bIns="0" rtlCol="0" anchor="t"/>
          <a:lstStyle/>
          <a:p>
            <a:pPr algn="l" indent="0" marL="0">
              <a:lnSpc>
                <a:spcPct val="110000"/>
              </a:lnSpc>
              <a:buNone/>
            </a:pPr>
            <a:r>
              <a:rPr lang="en-US" sz="1300" b="1" dirty="0">
                <a:solidFill>
                  <a:srgbClr val="11162E"/>
                </a:solidFill>
                <a:latin typeface="Segoe UI" pitchFamily="34" charset="0"/>
                <a:ea typeface="Segoe UI" pitchFamily="34" charset="-122"/>
                <a:cs typeface="Segoe UI" pitchFamily="34" charset="-120"/>
              </a:rPr>
              <a:t>Food data that ignores our dishes</a:t>
            </a:r>
            <a:endParaRPr lang="en-US" sz="1300" dirty="0"/>
          </a:p>
        </p:txBody>
      </p:sp>
      <p:sp>
        <p:nvSpPr>
          <p:cNvPr id="15" name="Shape 13"/>
          <p:cNvSpPr/>
          <p:nvPr/>
        </p:nvSpPr>
        <p:spPr>
          <a:xfrm>
            <a:off x="5614416" y="3172968"/>
            <a:ext cx="274320" cy="384048"/>
          </a:xfrm>
          <a:prstGeom prst="chevron">
            <a:avLst/>
          </a:prstGeom>
          <a:solidFill>
            <a:srgbClr val="E8F8F2"/>
          </a:solidFill>
          <a:ln w="12700">
            <a:solidFill>
              <a:srgbClr val="E8F8F2"/>
            </a:solidFill>
            <a:prstDash val="solid"/>
          </a:ln>
        </p:spPr>
      </p:sp>
      <p:sp>
        <p:nvSpPr>
          <p:cNvPr id="16" name="Shape 14"/>
          <p:cNvSpPr/>
          <p:nvPr/>
        </p:nvSpPr>
        <p:spPr>
          <a:xfrm>
            <a:off x="5980176" y="2926080"/>
            <a:ext cx="5660136" cy="877824"/>
          </a:xfrm>
          <a:prstGeom prst="roundRect">
            <a:avLst>
              <a:gd name="adj" fmla="val 10417"/>
            </a:avLst>
          </a:prstGeom>
          <a:solidFill>
            <a:srgbClr val="FFFFFF"/>
          </a:solidFill>
          <a:ln w="12700">
            <a:solidFill>
              <a:srgbClr val="E2E5F0"/>
            </a:solidFill>
            <a:prstDash val="solid"/>
          </a:ln>
        </p:spPr>
      </p:sp>
      <p:sp>
        <p:nvSpPr>
          <p:cNvPr id="17" name="Shape 15"/>
          <p:cNvSpPr/>
          <p:nvPr/>
        </p:nvSpPr>
        <p:spPr>
          <a:xfrm>
            <a:off x="5980176" y="3017520"/>
            <a:ext cx="54864" cy="694944"/>
          </a:xfrm>
          <a:prstGeom prst="roundRect">
            <a:avLst>
              <a:gd name="adj" fmla="val 50000"/>
            </a:avLst>
          </a:prstGeom>
          <a:solidFill>
            <a:srgbClr val="10B981"/>
          </a:solidFill>
          <a:ln w="12700">
            <a:solidFill>
              <a:srgbClr val="10B981"/>
            </a:solidFill>
            <a:prstDash val="solid"/>
          </a:ln>
        </p:spPr>
      </p:sp>
      <p:sp>
        <p:nvSpPr>
          <p:cNvPr id="18" name="Text 16"/>
          <p:cNvSpPr/>
          <p:nvPr/>
        </p:nvSpPr>
        <p:spPr>
          <a:xfrm>
            <a:off x="6236208" y="3081528"/>
            <a:ext cx="5230368" cy="585216"/>
          </a:xfrm>
          <a:prstGeom prst="rect">
            <a:avLst/>
          </a:prstGeom>
          <a:noFill/>
          <a:ln/>
        </p:spPr>
        <p:txBody>
          <a:bodyPr wrap="square" lIns="0" tIns="0" rIns="0" bIns="0" rtlCol="0" anchor="t"/>
          <a:lstStyle/>
          <a:p>
            <a:pPr algn="l" indent="0" marL="0">
              <a:lnSpc>
                <a:spcPct val="120000"/>
              </a:lnSpc>
              <a:buNone/>
            </a:pPr>
            <a:r>
              <a:rPr lang="en-US" sz="1080" dirty="0">
                <a:solidFill>
                  <a:srgbClr val="5B6382"/>
                </a:solidFill>
                <a:latin typeface="Segoe UI" pitchFamily="34" charset="0"/>
                <a:ea typeface="Segoe UI" pitchFamily="34" charset="-122"/>
                <a:cs typeface="Segoe UI" pitchFamily="34" charset="-120"/>
              </a:rPr>
              <a:t>25 Nigerian dishes built in, Open Food Facts for packaged food, and a camera scanner for when typing is too much.</a:t>
            </a:r>
            <a:endParaRPr lang="en-US" sz="1080" dirty="0"/>
          </a:p>
        </p:txBody>
      </p:sp>
      <p:sp>
        <p:nvSpPr>
          <p:cNvPr id="19" name="Shape 17"/>
          <p:cNvSpPr/>
          <p:nvPr/>
        </p:nvSpPr>
        <p:spPr>
          <a:xfrm>
            <a:off x="548640" y="3950208"/>
            <a:ext cx="4956048" cy="877824"/>
          </a:xfrm>
          <a:prstGeom prst="roundRect">
            <a:avLst>
              <a:gd name="adj" fmla="val 10417"/>
            </a:avLst>
          </a:prstGeom>
          <a:solidFill>
            <a:srgbClr val="FFFFFF"/>
          </a:solidFill>
          <a:ln w="12700">
            <a:solidFill>
              <a:srgbClr val="E2E5F0"/>
            </a:solidFill>
            <a:prstDash val="solid"/>
          </a:ln>
        </p:spPr>
      </p:sp>
      <p:sp>
        <p:nvSpPr>
          <p:cNvPr id="20" name="Text 18"/>
          <p:cNvSpPr/>
          <p:nvPr/>
        </p:nvSpPr>
        <p:spPr>
          <a:xfrm>
            <a:off x="822960" y="4215384"/>
            <a:ext cx="4434840" cy="384048"/>
          </a:xfrm>
          <a:prstGeom prst="rect">
            <a:avLst/>
          </a:prstGeom>
          <a:noFill/>
          <a:ln/>
        </p:spPr>
        <p:txBody>
          <a:bodyPr wrap="square" lIns="0" tIns="0" rIns="0" bIns="0" rtlCol="0" anchor="t"/>
          <a:lstStyle/>
          <a:p>
            <a:pPr algn="l" indent="0" marL="0">
              <a:lnSpc>
                <a:spcPct val="110000"/>
              </a:lnSpc>
              <a:buNone/>
            </a:pPr>
            <a:r>
              <a:rPr lang="en-US" sz="1300" b="1" dirty="0">
                <a:solidFill>
                  <a:srgbClr val="11162E"/>
                </a:solidFill>
                <a:latin typeface="Segoe UI" pitchFamily="34" charset="0"/>
                <a:ea typeface="Segoe UI" pitchFamily="34" charset="-122"/>
                <a:cs typeface="Segoe UI" pitchFamily="34" charset="-120"/>
              </a:rPr>
              <a:t>One-size-fits-all plans</a:t>
            </a:r>
            <a:endParaRPr lang="en-US" sz="1300" dirty="0"/>
          </a:p>
        </p:txBody>
      </p:sp>
      <p:sp>
        <p:nvSpPr>
          <p:cNvPr id="21" name="Shape 19"/>
          <p:cNvSpPr/>
          <p:nvPr/>
        </p:nvSpPr>
        <p:spPr>
          <a:xfrm>
            <a:off x="5614416" y="4197096"/>
            <a:ext cx="274320" cy="384048"/>
          </a:xfrm>
          <a:prstGeom prst="chevron">
            <a:avLst/>
          </a:prstGeom>
          <a:solidFill>
            <a:srgbClr val="E8F8F2"/>
          </a:solidFill>
          <a:ln w="12700">
            <a:solidFill>
              <a:srgbClr val="E8F8F2"/>
            </a:solidFill>
            <a:prstDash val="solid"/>
          </a:ln>
        </p:spPr>
      </p:sp>
      <p:sp>
        <p:nvSpPr>
          <p:cNvPr id="22" name="Shape 20"/>
          <p:cNvSpPr/>
          <p:nvPr/>
        </p:nvSpPr>
        <p:spPr>
          <a:xfrm>
            <a:off x="5980176" y="3950208"/>
            <a:ext cx="5660136" cy="877824"/>
          </a:xfrm>
          <a:prstGeom prst="roundRect">
            <a:avLst>
              <a:gd name="adj" fmla="val 10417"/>
            </a:avLst>
          </a:prstGeom>
          <a:solidFill>
            <a:srgbClr val="FFFFFF"/>
          </a:solidFill>
          <a:ln w="12700">
            <a:solidFill>
              <a:srgbClr val="E2E5F0"/>
            </a:solidFill>
            <a:prstDash val="solid"/>
          </a:ln>
        </p:spPr>
      </p:sp>
      <p:sp>
        <p:nvSpPr>
          <p:cNvPr id="23" name="Shape 21"/>
          <p:cNvSpPr/>
          <p:nvPr/>
        </p:nvSpPr>
        <p:spPr>
          <a:xfrm>
            <a:off x="5980176" y="4041648"/>
            <a:ext cx="54864" cy="694944"/>
          </a:xfrm>
          <a:prstGeom prst="roundRect">
            <a:avLst>
              <a:gd name="adj" fmla="val 50000"/>
            </a:avLst>
          </a:prstGeom>
          <a:solidFill>
            <a:srgbClr val="10B981"/>
          </a:solidFill>
          <a:ln w="12700">
            <a:solidFill>
              <a:srgbClr val="10B981"/>
            </a:solidFill>
            <a:prstDash val="solid"/>
          </a:ln>
        </p:spPr>
      </p:sp>
      <p:sp>
        <p:nvSpPr>
          <p:cNvPr id="24" name="Text 22"/>
          <p:cNvSpPr/>
          <p:nvPr/>
        </p:nvSpPr>
        <p:spPr>
          <a:xfrm>
            <a:off x="6236208" y="4105656"/>
            <a:ext cx="5230368" cy="585216"/>
          </a:xfrm>
          <a:prstGeom prst="rect">
            <a:avLst/>
          </a:prstGeom>
          <a:noFill/>
          <a:ln/>
        </p:spPr>
        <p:txBody>
          <a:bodyPr wrap="square" lIns="0" tIns="0" rIns="0" bIns="0" rtlCol="0" anchor="t"/>
          <a:lstStyle/>
          <a:p>
            <a:pPr algn="l" indent="0" marL="0">
              <a:lnSpc>
                <a:spcPct val="120000"/>
              </a:lnSpc>
              <a:buNone/>
            </a:pPr>
            <a:r>
              <a:rPr lang="en-US" sz="1080" dirty="0">
                <a:solidFill>
                  <a:srgbClr val="5B6382"/>
                </a:solidFill>
                <a:latin typeface="Segoe UI" pitchFamily="34" charset="0"/>
                <a:ea typeface="Segoe UI" pitchFamily="34" charset="-122"/>
                <a:cs typeface="Segoe UI" pitchFamily="34" charset="-120"/>
              </a:rPr>
              <a:t>The AI coach generates workouts and meal plans from your goal, body stats, equipment and history — and answers questions with that context.</a:t>
            </a:r>
            <a:endParaRPr lang="en-US" sz="1080" dirty="0"/>
          </a:p>
        </p:txBody>
      </p:sp>
      <p:sp>
        <p:nvSpPr>
          <p:cNvPr id="25" name="Shape 23"/>
          <p:cNvSpPr/>
          <p:nvPr/>
        </p:nvSpPr>
        <p:spPr>
          <a:xfrm>
            <a:off x="548640" y="4974336"/>
            <a:ext cx="4956048" cy="877824"/>
          </a:xfrm>
          <a:prstGeom prst="roundRect">
            <a:avLst>
              <a:gd name="adj" fmla="val 10417"/>
            </a:avLst>
          </a:prstGeom>
          <a:solidFill>
            <a:srgbClr val="FFFFFF"/>
          </a:solidFill>
          <a:ln w="12700">
            <a:solidFill>
              <a:srgbClr val="E2E5F0"/>
            </a:solidFill>
            <a:prstDash val="solid"/>
          </a:ln>
        </p:spPr>
      </p:sp>
      <p:sp>
        <p:nvSpPr>
          <p:cNvPr id="26" name="Text 24"/>
          <p:cNvSpPr/>
          <p:nvPr/>
        </p:nvSpPr>
        <p:spPr>
          <a:xfrm>
            <a:off x="822960" y="5239512"/>
            <a:ext cx="4434840" cy="384048"/>
          </a:xfrm>
          <a:prstGeom prst="rect">
            <a:avLst/>
          </a:prstGeom>
          <a:noFill/>
          <a:ln/>
        </p:spPr>
        <p:txBody>
          <a:bodyPr wrap="square" lIns="0" tIns="0" rIns="0" bIns="0" rtlCol="0" anchor="t"/>
          <a:lstStyle/>
          <a:p>
            <a:pPr algn="l" indent="0" marL="0">
              <a:lnSpc>
                <a:spcPct val="110000"/>
              </a:lnSpc>
              <a:buNone/>
            </a:pPr>
            <a:r>
              <a:rPr lang="en-US" sz="1300" b="1" dirty="0">
                <a:solidFill>
                  <a:srgbClr val="11162E"/>
                </a:solidFill>
                <a:latin typeface="Segoe UI" pitchFamily="34" charset="0"/>
                <a:ea typeface="Segoe UI" pitchFamily="34" charset="-122"/>
                <a:cs typeface="Segoe UI" pitchFamily="34" charset="-120"/>
              </a:rPr>
              <a:t>No accountability</a:t>
            </a:r>
            <a:endParaRPr lang="en-US" sz="1300" dirty="0"/>
          </a:p>
        </p:txBody>
      </p:sp>
      <p:sp>
        <p:nvSpPr>
          <p:cNvPr id="27" name="Shape 25"/>
          <p:cNvSpPr/>
          <p:nvPr/>
        </p:nvSpPr>
        <p:spPr>
          <a:xfrm>
            <a:off x="5614416" y="5221224"/>
            <a:ext cx="274320" cy="384048"/>
          </a:xfrm>
          <a:prstGeom prst="chevron">
            <a:avLst/>
          </a:prstGeom>
          <a:solidFill>
            <a:srgbClr val="E8F8F2"/>
          </a:solidFill>
          <a:ln w="12700">
            <a:solidFill>
              <a:srgbClr val="E8F8F2"/>
            </a:solidFill>
            <a:prstDash val="solid"/>
          </a:ln>
        </p:spPr>
      </p:sp>
      <p:sp>
        <p:nvSpPr>
          <p:cNvPr id="28" name="Shape 26"/>
          <p:cNvSpPr/>
          <p:nvPr/>
        </p:nvSpPr>
        <p:spPr>
          <a:xfrm>
            <a:off x="5980176" y="4974336"/>
            <a:ext cx="5660136" cy="877824"/>
          </a:xfrm>
          <a:prstGeom prst="roundRect">
            <a:avLst>
              <a:gd name="adj" fmla="val 10417"/>
            </a:avLst>
          </a:prstGeom>
          <a:solidFill>
            <a:srgbClr val="FFFFFF"/>
          </a:solidFill>
          <a:ln w="12700">
            <a:solidFill>
              <a:srgbClr val="E2E5F0"/>
            </a:solidFill>
            <a:prstDash val="solid"/>
          </a:ln>
        </p:spPr>
      </p:sp>
      <p:sp>
        <p:nvSpPr>
          <p:cNvPr id="29" name="Shape 27"/>
          <p:cNvSpPr/>
          <p:nvPr/>
        </p:nvSpPr>
        <p:spPr>
          <a:xfrm>
            <a:off x="5980176" y="5065776"/>
            <a:ext cx="54864" cy="694944"/>
          </a:xfrm>
          <a:prstGeom prst="roundRect">
            <a:avLst>
              <a:gd name="adj" fmla="val 50000"/>
            </a:avLst>
          </a:prstGeom>
          <a:solidFill>
            <a:srgbClr val="10B981"/>
          </a:solidFill>
          <a:ln w="12700">
            <a:solidFill>
              <a:srgbClr val="10B981"/>
            </a:solidFill>
            <a:prstDash val="solid"/>
          </a:ln>
        </p:spPr>
      </p:sp>
      <p:sp>
        <p:nvSpPr>
          <p:cNvPr id="30" name="Text 28"/>
          <p:cNvSpPr/>
          <p:nvPr/>
        </p:nvSpPr>
        <p:spPr>
          <a:xfrm>
            <a:off x="6236208" y="5129784"/>
            <a:ext cx="5230368" cy="585216"/>
          </a:xfrm>
          <a:prstGeom prst="rect">
            <a:avLst/>
          </a:prstGeom>
          <a:noFill/>
          <a:ln/>
        </p:spPr>
        <p:txBody>
          <a:bodyPr wrap="square" lIns="0" tIns="0" rIns="0" bIns="0" rtlCol="0" anchor="t"/>
          <a:lstStyle/>
          <a:p>
            <a:pPr algn="l" indent="0" marL="0">
              <a:lnSpc>
                <a:spcPct val="120000"/>
              </a:lnSpc>
              <a:buNone/>
            </a:pPr>
            <a:r>
              <a:rPr lang="en-US" sz="1080" dirty="0">
                <a:solidFill>
                  <a:srgbClr val="5B6382"/>
                </a:solidFill>
                <a:latin typeface="Segoe UI" pitchFamily="34" charset="0"/>
                <a:ea typeface="Segoe UI" pitchFamily="34" charset="-122"/>
                <a:cs typeface="Segoe UI" pitchFamily="34" charset="-120"/>
              </a:rPr>
              <a:t>Up to 3 partners with shared goals and live chat, daily streaks with milestones, local reminders, and a fasting timer that survives a restart.</a:t>
            </a:r>
            <a:endParaRPr lang="en-US" sz="1080" dirty="0"/>
          </a:p>
        </p:txBody>
      </p:sp>
      <p:sp>
        <p:nvSpPr>
          <p:cNvPr id="31" name="Text 29"/>
          <p:cNvSpPr/>
          <p:nvPr/>
        </p:nvSpPr>
        <p:spPr>
          <a:xfrm>
            <a:off x="566928" y="5998464"/>
            <a:ext cx="11064240" cy="256032"/>
          </a:xfrm>
          <a:prstGeom prst="rect">
            <a:avLst/>
          </a:prstGeom>
          <a:noFill/>
          <a:ln/>
        </p:spPr>
        <p:txBody>
          <a:bodyPr wrap="square" lIns="0" tIns="0" rIns="0" bIns="0" rtlCol="0" anchor="t"/>
          <a:lstStyle/>
          <a:p>
            <a:pPr algn="l" indent="0" marL="0">
              <a:lnSpc>
                <a:spcPct val="110000"/>
              </a:lnSpc>
              <a:buNone/>
            </a:pPr>
            <a:r>
              <a:rPr lang="en-US" sz="1050" i="1" dirty="0">
                <a:solidFill>
                  <a:srgbClr val="98A0BC"/>
                </a:solidFill>
                <a:latin typeface="Segoe UI" pitchFamily="34" charset="0"/>
                <a:ea typeface="Segoe UI" pitchFamily="34" charset="-122"/>
                <a:cs typeface="Segoe UI" pitchFamily="34" charset="-120"/>
              </a:rPr>
              <a:t>Every screen on the next slide exists to remove one of these four causes.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66928" y="365760"/>
            <a:ext cx="10789920" cy="237744"/>
          </a:xfrm>
          <a:prstGeom prst="rect">
            <a:avLst/>
          </a:prstGeom>
          <a:noFill/>
          <a:ln/>
        </p:spPr>
        <p:txBody>
          <a:bodyPr wrap="square" lIns="0" tIns="0" rIns="0" bIns="0" rtlCol="0" anchor="t"/>
          <a:lstStyle/>
          <a:p>
            <a:pPr algn="l" indent="0" marL="0">
              <a:lnSpc>
                <a:spcPct val="110000"/>
              </a:lnSpc>
              <a:buNone/>
            </a:pPr>
            <a:r>
              <a:rPr lang="en-US" sz="1000" b="1" spc="240" kern="0" dirty="0">
                <a:solidFill>
                  <a:srgbClr val="0B8F65"/>
                </a:solidFill>
                <a:latin typeface="Segoe UI" pitchFamily="34" charset="0"/>
                <a:ea typeface="Segoe UI" pitchFamily="34" charset="-122"/>
                <a:cs typeface="Segoe UI" pitchFamily="34" charset="-120"/>
              </a:rPr>
              <a:t>THE PRODUCT</a:t>
            </a:r>
            <a:endParaRPr lang="en-US" sz="1000" dirty="0"/>
          </a:p>
        </p:txBody>
      </p:sp>
      <p:sp>
        <p:nvSpPr>
          <p:cNvPr id="3" name="Text 1"/>
          <p:cNvSpPr/>
          <p:nvPr/>
        </p:nvSpPr>
        <p:spPr>
          <a:xfrm>
            <a:off x="548640" y="640080"/>
            <a:ext cx="11064240" cy="548640"/>
          </a:xfrm>
          <a:prstGeom prst="rect">
            <a:avLst/>
          </a:prstGeom>
          <a:noFill/>
          <a:ln/>
        </p:spPr>
        <p:txBody>
          <a:bodyPr wrap="square" lIns="0" tIns="0" rIns="0" bIns="0" rtlCol="0" anchor="t"/>
          <a:lstStyle/>
          <a:p>
            <a:pPr algn="l" indent="0" marL="0">
              <a:lnSpc>
                <a:spcPct val="110000"/>
              </a:lnSpc>
              <a:buNone/>
            </a:pPr>
            <a:r>
              <a:rPr lang="en-US" sz="3000" b="1" dirty="0">
                <a:solidFill>
                  <a:srgbClr val="11162E"/>
                </a:solidFill>
                <a:latin typeface="Segoe UI" pitchFamily="34" charset="0"/>
                <a:ea typeface="Segoe UI" pitchFamily="34" charset="-122"/>
                <a:cs typeface="Segoe UI" pitchFamily="34" charset="-120"/>
              </a:rPr>
              <a:t>The daily loop, in four screens</a:t>
            </a:r>
            <a:endParaRPr lang="en-US" sz="3000" dirty="0"/>
          </a:p>
        </p:txBody>
      </p:sp>
      <p:sp>
        <p:nvSpPr>
          <p:cNvPr id="4" name="Text 2"/>
          <p:cNvSpPr/>
          <p:nvPr/>
        </p:nvSpPr>
        <p:spPr>
          <a:xfrm>
            <a:off x="566928" y="1225296"/>
            <a:ext cx="10881360" cy="292608"/>
          </a:xfrm>
          <a:prstGeom prst="rect">
            <a:avLst/>
          </a:prstGeom>
          <a:noFill/>
          <a:ln/>
        </p:spPr>
        <p:txBody>
          <a:bodyPr wrap="square" lIns="0" tIns="0" rIns="0" bIns="0" rtlCol="0" anchor="t"/>
          <a:lstStyle/>
          <a:p>
            <a:pPr algn="l" indent="0" marL="0">
              <a:lnSpc>
                <a:spcPct val="110000"/>
              </a:lnSpc>
              <a:buNone/>
            </a:pPr>
            <a:r>
              <a:rPr lang="en-US" sz="1300" dirty="0">
                <a:solidFill>
                  <a:srgbClr val="5B6382"/>
                </a:solidFill>
                <a:latin typeface="Segoe UI" pitchFamily="34" charset="0"/>
                <a:ea typeface="Segoe UI" pitchFamily="34" charset="-122"/>
                <a:cs typeface="Segoe UI" pitchFamily="34" charset="-120"/>
              </a:rPr>
              <a:t>Home → log food → get the plan → train. This is what a user repeats every day.</a:t>
            </a:r>
            <a:endParaRPr lang="en-US" sz="1300" dirty="0"/>
          </a:p>
        </p:txBody>
      </p:sp>
      <p:sp>
        <p:nvSpPr>
          <p:cNvPr id="5" name="Text 3"/>
          <p:cNvSpPr/>
          <p:nvPr/>
        </p:nvSpPr>
        <p:spPr>
          <a:xfrm>
            <a:off x="385153" y="5522976"/>
            <a:ext cx="2194560" cy="256032"/>
          </a:xfrm>
          <a:prstGeom prst="rect">
            <a:avLst/>
          </a:prstGeom>
          <a:noFill/>
          <a:ln/>
        </p:spPr>
        <p:txBody>
          <a:bodyPr wrap="square" lIns="0" tIns="0" rIns="0" bIns="0" rtlCol="0" anchor="t"/>
          <a:lstStyle/>
          <a:p>
            <a:pPr algn="ctr" indent="0" marL="0">
              <a:lnSpc>
                <a:spcPct val="110000"/>
              </a:lnSpc>
              <a:buNone/>
            </a:pPr>
            <a:r>
              <a:rPr lang="en-US" sz="1200" b="1" dirty="0">
                <a:solidFill>
                  <a:srgbClr val="11162E"/>
                </a:solidFill>
                <a:latin typeface="Segoe UI" pitchFamily="34" charset="0"/>
                <a:ea typeface="Segoe UI" pitchFamily="34" charset="-122"/>
                <a:cs typeface="Segoe UI" pitchFamily="34" charset="-120"/>
              </a:rPr>
              <a:t>Home</a:t>
            </a:r>
            <a:endParaRPr lang="en-US" sz="1200" dirty="0"/>
          </a:p>
        </p:txBody>
      </p:sp>
      <p:sp>
        <p:nvSpPr>
          <p:cNvPr id="6" name="Text 4"/>
          <p:cNvSpPr/>
          <p:nvPr/>
        </p:nvSpPr>
        <p:spPr>
          <a:xfrm>
            <a:off x="385153" y="5797296"/>
            <a:ext cx="2194560" cy="548640"/>
          </a:xfrm>
          <a:prstGeom prst="rect">
            <a:avLst/>
          </a:prstGeom>
          <a:noFill/>
          <a:ln/>
        </p:spPr>
        <p:txBody>
          <a:bodyPr wrap="square" lIns="0" tIns="0" rIns="0" bIns="0" rtlCol="0" anchor="t"/>
          <a:lstStyle/>
          <a:p>
            <a:pPr algn="ctr" indent="0" marL="0">
              <a:lnSpc>
                <a:spcPct val="115000"/>
              </a:lnSpc>
              <a:buNone/>
            </a:pPr>
            <a:r>
              <a:rPr lang="en-US" sz="950" dirty="0">
                <a:solidFill>
                  <a:srgbClr val="5B6382"/>
                </a:solidFill>
                <a:latin typeface="Segoe UI" pitchFamily="34" charset="0"/>
                <a:ea typeface="Segoe UI" pitchFamily="34" charset="-122"/>
                <a:cs typeface="Segoe UI" pitchFamily="34" charset="-120"/>
              </a:rPr>
              <a:t>Calories left, macros, water, steps, sleep and the streak — one screen</a:t>
            </a:r>
            <a:endParaRPr lang="en-US" sz="950" dirty="0"/>
          </a:p>
        </p:txBody>
      </p:sp>
      <p:sp>
        <p:nvSpPr>
          <p:cNvPr id="7" name="Text 5"/>
          <p:cNvSpPr/>
          <p:nvPr/>
        </p:nvSpPr>
        <p:spPr>
          <a:xfrm>
            <a:off x="3459848" y="5522976"/>
            <a:ext cx="2194560" cy="256032"/>
          </a:xfrm>
          <a:prstGeom prst="rect">
            <a:avLst/>
          </a:prstGeom>
          <a:noFill/>
          <a:ln/>
        </p:spPr>
        <p:txBody>
          <a:bodyPr wrap="square" lIns="0" tIns="0" rIns="0" bIns="0" rtlCol="0" anchor="t"/>
          <a:lstStyle/>
          <a:p>
            <a:pPr algn="ctr" indent="0" marL="0">
              <a:lnSpc>
                <a:spcPct val="110000"/>
              </a:lnSpc>
              <a:buNone/>
            </a:pPr>
            <a:r>
              <a:rPr lang="en-US" sz="1200" b="1" dirty="0">
                <a:solidFill>
                  <a:srgbClr val="11162E"/>
                </a:solidFill>
                <a:latin typeface="Segoe UI" pitchFamily="34" charset="0"/>
                <a:ea typeface="Segoe UI" pitchFamily="34" charset="-122"/>
                <a:cs typeface="Segoe UI" pitchFamily="34" charset="-120"/>
              </a:rPr>
              <a:t>Calorie</a:t>
            </a:r>
            <a:endParaRPr lang="en-US" sz="1200" dirty="0"/>
          </a:p>
        </p:txBody>
      </p:sp>
      <p:sp>
        <p:nvSpPr>
          <p:cNvPr id="8" name="Text 6"/>
          <p:cNvSpPr/>
          <p:nvPr/>
        </p:nvSpPr>
        <p:spPr>
          <a:xfrm>
            <a:off x="3459848" y="5797296"/>
            <a:ext cx="2194560" cy="548640"/>
          </a:xfrm>
          <a:prstGeom prst="rect">
            <a:avLst/>
          </a:prstGeom>
          <a:noFill/>
          <a:ln/>
        </p:spPr>
        <p:txBody>
          <a:bodyPr wrap="square" lIns="0" tIns="0" rIns="0" bIns="0" rtlCol="0" anchor="t"/>
          <a:lstStyle/>
          <a:p>
            <a:pPr algn="ctr" indent="0" marL="0">
              <a:lnSpc>
                <a:spcPct val="115000"/>
              </a:lnSpc>
              <a:buNone/>
            </a:pPr>
            <a:r>
              <a:rPr lang="en-US" sz="950" dirty="0">
                <a:solidFill>
                  <a:srgbClr val="5B6382"/>
                </a:solidFill>
                <a:latin typeface="Segoe UI" pitchFamily="34" charset="0"/>
                <a:ea typeface="Segoe UI" pitchFamily="34" charset="-122"/>
                <a:cs typeface="Segoe UI" pitchFamily="34" charset="-120"/>
              </a:rPr>
              <a:t>Log meals and macros, add water, or scan the plate with the camera</a:t>
            </a:r>
            <a:endParaRPr lang="en-US" sz="950" dirty="0"/>
          </a:p>
        </p:txBody>
      </p:sp>
      <p:sp>
        <p:nvSpPr>
          <p:cNvPr id="9" name="Text 7"/>
          <p:cNvSpPr/>
          <p:nvPr/>
        </p:nvSpPr>
        <p:spPr>
          <a:xfrm>
            <a:off x="6534544" y="5522976"/>
            <a:ext cx="2194560" cy="256032"/>
          </a:xfrm>
          <a:prstGeom prst="rect">
            <a:avLst/>
          </a:prstGeom>
          <a:noFill/>
          <a:ln/>
        </p:spPr>
        <p:txBody>
          <a:bodyPr wrap="square" lIns="0" tIns="0" rIns="0" bIns="0" rtlCol="0" anchor="t"/>
          <a:lstStyle/>
          <a:p>
            <a:pPr algn="ctr" indent="0" marL="0">
              <a:lnSpc>
                <a:spcPct val="110000"/>
              </a:lnSpc>
              <a:buNone/>
            </a:pPr>
            <a:r>
              <a:rPr lang="en-US" sz="1200" b="1" dirty="0">
                <a:solidFill>
                  <a:srgbClr val="11162E"/>
                </a:solidFill>
                <a:latin typeface="Segoe UI" pitchFamily="34" charset="0"/>
                <a:ea typeface="Segoe UI" pitchFamily="34" charset="-122"/>
                <a:cs typeface="Segoe UI" pitchFamily="34" charset="-120"/>
              </a:rPr>
              <a:t>AI Coach</a:t>
            </a:r>
            <a:endParaRPr lang="en-US" sz="1200" dirty="0"/>
          </a:p>
        </p:txBody>
      </p:sp>
      <p:sp>
        <p:nvSpPr>
          <p:cNvPr id="10" name="Text 8"/>
          <p:cNvSpPr/>
          <p:nvPr/>
        </p:nvSpPr>
        <p:spPr>
          <a:xfrm>
            <a:off x="6534544" y="5797296"/>
            <a:ext cx="2194560" cy="548640"/>
          </a:xfrm>
          <a:prstGeom prst="rect">
            <a:avLst/>
          </a:prstGeom>
          <a:noFill/>
          <a:ln/>
        </p:spPr>
        <p:txBody>
          <a:bodyPr wrap="square" lIns="0" tIns="0" rIns="0" bIns="0" rtlCol="0" anchor="t"/>
          <a:lstStyle/>
          <a:p>
            <a:pPr algn="ctr" indent="0" marL="0">
              <a:lnSpc>
                <a:spcPct val="115000"/>
              </a:lnSpc>
              <a:buNone/>
            </a:pPr>
            <a:r>
              <a:rPr lang="en-US" sz="950" dirty="0">
                <a:solidFill>
                  <a:srgbClr val="5B6382"/>
                </a:solidFill>
                <a:latin typeface="Segoe UI" pitchFamily="34" charset="0"/>
                <a:ea typeface="Segoe UI" pitchFamily="34" charset="-122"/>
                <a:cs typeface="Segoe UI" pitchFamily="34" charset="-120"/>
              </a:rPr>
              <a:t>A real session back: sets, reps, rest, form tips, progression</a:t>
            </a:r>
            <a:endParaRPr lang="en-US" sz="950" dirty="0"/>
          </a:p>
        </p:txBody>
      </p:sp>
      <p:sp>
        <p:nvSpPr>
          <p:cNvPr id="11" name="Text 9"/>
          <p:cNvSpPr/>
          <p:nvPr/>
        </p:nvSpPr>
        <p:spPr>
          <a:xfrm>
            <a:off x="9609239" y="5522976"/>
            <a:ext cx="2194560" cy="256032"/>
          </a:xfrm>
          <a:prstGeom prst="rect">
            <a:avLst/>
          </a:prstGeom>
          <a:noFill/>
          <a:ln/>
        </p:spPr>
        <p:txBody>
          <a:bodyPr wrap="square" lIns="0" tIns="0" rIns="0" bIns="0" rtlCol="0" anchor="t"/>
          <a:lstStyle/>
          <a:p>
            <a:pPr algn="ctr" indent="0" marL="0">
              <a:lnSpc>
                <a:spcPct val="110000"/>
              </a:lnSpc>
              <a:buNone/>
            </a:pPr>
            <a:r>
              <a:rPr lang="en-US" sz="1200" b="1" dirty="0">
                <a:solidFill>
                  <a:srgbClr val="11162E"/>
                </a:solidFill>
                <a:latin typeface="Segoe UI" pitchFamily="34" charset="0"/>
                <a:ea typeface="Segoe UI" pitchFamily="34" charset="-122"/>
                <a:cs typeface="Segoe UI" pitchFamily="34" charset="-120"/>
              </a:rPr>
              <a:t>Activity</a:t>
            </a:r>
            <a:endParaRPr lang="en-US" sz="1200" dirty="0"/>
          </a:p>
        </p:txBody>
      </p:sp>
      <p:sp>
        <p:nvSpPr>
          <p:cNvPr id="12" name="Text 10"/>
          <p:cNvSpPr/>
          <p:nvPr/>
        </p:nvSpPr>
        <p:spPr>
          <a:xfrm>
            <a:off x="9609239" y="5797296"/>
            <a:ext cx="2194560" cy="548640"/>
          </a:xfrm>
          <a:prstGeom prst="rect">
            <a:avLst/>
          </a:prstGeom>
          <a:noFill/>
          <a:ln/>
        </p:spPr>
        <p:txBody>
          <a:bodyPr wrap="square" lIns="0" tIns="0" rIns="0" bIns="0" rtlCol="0" anchor="t"/>
          <a:lstStyle/>
          <a:p>
            <a:pPr algn="ctr" indent="0" marL="0">
              <a:lnSpc>
                <a:spcPct val="115000"/>
              </a:lnSpc>
              <a:buNone/>
            </a:pPr>
            <a:r>
              <a:rPr lang="en-US" sz="950" dirty="0">
                <a:solidFill>
                  <a:srgbClr val="5B6382"/>
                </a:solidFill>
                <a:latin typeface="Segoe UI" pitchFamily="34" charset="0"/>
                <a:ea typeface="Segoe UI" pitchFamily="34" charset="-122"/>
                <a:cs typeface="Segoe UI" pitchFamily="34" charset="-120"/>
              </a:rPr>
              <a:t>8 categories, 48 exercises, guided timer with voice cues</a:t>
            </a:r>
            <a:endParaRPr lang="en-US" sz="950" dirty="0"/>
          </a:p>
        </p:txBody>
      </p:sp>
      <p:pic>
        <p:nvPicPr>
          <p:cNvPr id="13" name="Image 0" descr="C:\My Workspace\Aotsecure-V1\projects\Mobile Apps\CalFit\CalFit App Screens\CalFit App Screens\home screen.PNG">    </p:cNvPr>
          <p:cNvPicPr>
            <a:picLocks noChangeAspect="1"/>
          </p:cNvPicPr>
          <p:nvPr/>
        </p:nvPicPr>
        <p:blipFill>
          <a:blip r:embed="rId1"/>
          <a:stretch>
            <a:fillRect/>
          </a:stretch>
        </p:blipFill>
        <p:spPr>
          <a:xfrm>
            <a:off x="548640" y="1426464"/>
            <a:ext cx="1867586" cy="4041648"/>
          </a:xfrm>
          <a:prstGeom prst="rect">
            <a:avLst/>
          </a:prstGeom>
        </p:spPr>
      </p:pic>
      <p:pic>
        <p:nvPicPr>
          <p:cNvPr id="14" name="Image 1" descr="C:\My Workspace\Aotsecure-V1\projects\Mobile Apps\CalFit\CalFit App Screens\CalFit App Screens\calorie screen.PNG">    </p:cNvPr>
          <p:cNvPicPr>
            <a:picLocks noChangeAspect="1"/>
          </p:cNvPicPr>
          <p:nvPr/>
        </p:nvPicPr>
        <p:blipFill>
          <a:blip r:embed="rId2"/>
          <a:stretch>
            <a:fillRect/>
          </a:stretch>
        </p:blipFill>
        <p:spPr>
          <a:xfrm>
            <a:off x="3623335" y="1426464"/>
            <a:ext cx="1867586" cy="4041648"/>
          </a:xfrm>
          <a:prstGeom prst="rect">
            <a:avLst/>
          </a:prstGeom>
        </p:spPr>
      </p:pic>
      <p:pic>
        <p:nvPicPr>
          <p:cNvPr id="15" name="Image 2" descr="C:\My Workspace\Aotsecure-V1\projects\Mobile Apps\CalFit\CalFit App Screens\CalFit App Screens\workout generation screen.PNG">    </p:cNvPr>
          <p:cNvPicPr>
            <a:picLocks noChangeAspect="1"/>
          </p:cNvPicPr>
          <p:nvPr/>
        </p:nvPicPr>
        <p:blipFill>
          <a:blip r:embed="rId3"/>
          <a:stretch>
            <a:fillRect/>
          </a:stretch>
        </p:blipFill>
        <p:spPr>
          <a:xfrm>
            <a:off x="6698031" y="1426464"/>
            <a:ext cx="1867586" cy="4041648"/>
          </a:xfrm>
          <a:prstGeom prst="rect">
            <a:avLst/>
          </a:prstGeom>
        </p:spPr>
      </p:pic>
      <p:pic>
        <p:nvPicPr>
          <p:cNvPr id="16" name="Image 3" descr="C:\My Workspace\Aotsecure-V1\projects\Mobile Apps\CalFit\CalFit App Screens\CalFit App Screens\activity screen.PNG">    </p:cNvPr>
          <p:cNvPicPr>
            <a:picLocks noChangeAspect="1"/>
          </p:cNvPicPr>
          <p:nvPr/>
        </p:nvPicPr>
        <p:blipFill>
          <a:blip r:embed="rId4"/>
          <a:stretch>
            <a:fillRect/>
          </a:stretch>
        </p:blipFill>
        <p:spPr>
          <a:xfrm>
            <a:off x="9772726" y="1426464"/>
            <a:ext cx="1867586" cy="40416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66928" y="365760"/>
            <a:ext cx="10789920" cy="237744"/>
          </a:xfrm>
          <a:prstGeom prst="rect">
            <a:avLst/>
          </a:prstGeom>
          <a:noFill/>
          <a:ln/>
        </p:spPr>
        <p:txBody>
          <a:bodyPr wrap="square" lIns="0" tIns="0" rIns="0" bIns="0" rtlCol="0" anchor="t"/>
          <a:lstStyle/>
          <a:p>
            <a:pPr algn="l" indent="0" marL="0">
              <a:lnSpc>
                <a:spcPct val="110000"/>
              </a:lnSpc>
              <a:buNone/>
            </a:pPr>
            <a:r>
              <a:rPr lang="en-US" sz="1000" b="1" spc="240" kern="0" dirty="0">
                <a:solidFill>
                  <a:srgbClr val="0B8F65"/>
                </a:solidFill>
                <a:latin typeface="Segoe UI" pitchFamily="34" charset="0"/>
                <a:ea typeface="Segoe UI" pitchFamily="34" charset="-122"/>
                <a:cs typeface="Segoe UI" pitchFamily="34" charset="-120"/>
              </a:rPr>
              <a:t>UNDER THE HOOD</a:t>
            </a:r>
            <a:endParaRPr lang="en-US" sz="1000" dirty="0"/>
          </a:p>
        </p:txBody>
      </p:sp>
      <p:sp>
        <p:nvSpPr>
          <p:cNvPr id="3" name="Text 1"/>
          <p:cNvSpPr/>
          <p:nvPr/>
        </p:nvSpPr>
        <p:spPr>
          <a:xfrm>
            <a:off x="548640" y="640080"/>
            <a:ext cx="11064240" cy="548640"/>
          </a:xfrm>
          <a:prstGeom prst="rect">
            <a:avLst/>
          </a:prstGeom>
          <a:noFill/>
          <a:ln/>
        </p:spPr>
        <p:txBody>
          <a:bodyPr wrap="square" lIns="0" tIns="0" rIns="0" bIns="0" rtlCol="0" anchor="t"/>
          <a:lstStyle/>
          <a:p>
            <a:pPr algn="l" indent="0" marL="0">
              <a:lnSpc>
                <a:spcPct val="110000"/>
              </a:lnSpc>
              <a:buNone/>
            </a:pPr>
            <a:r>
              <a:rPr lang="en-US" sz="3000" b="1" dirty="0">
                <a:solidFill>
                  <a:srgbClr val="11162E"/>
                </a:solidFill>
                <a:latin typeface="Segoe UI" pitchFamily="34" charset="0"/>
                <a:ea typeface="Segoe UI" pitchFamily="34" charset="-122"/>
                <a:cs typeface="Segoe UI" pitchFamily="34" charset="-120"/>
              </a:rPr>
              <a:t>One codebase, private data, no keys in the app</a:t>
            </a:r>
            <a:endParaRPr lang="en-US" sz="3000" dirty="0"/>
          </a:p>
        </p:txBody>
      </p:sp>
      <p:sp>
        <p:nvSpPr>
          <p:cNvPr id="4" name="Text 2"/>
          <p:cNvSpPr/>
          <p:nvPr/>
        </p:nvSpPr>
        <p:spPr>
          <a:xfrm>
            <a:off x="566928" y="1225296"/>
            <a:ext cx="10881360" cy="292608"/>
          </a:xfrm>
          <a:prstGeom prst="rect">
            <a:avLst/>
          </a:prstGeom>
          <a:noFill/>
          <a:ln/>
        </p:spPr>
        <p:txBody>
          <a:bodyPr wrap="square" lIns="0" tIns="0" rIns="0" bIns="0" rtlCol="0" anchor="t"/>
          <a:lstStyle/>
          <a:p>
            <a:pPr algn="l" indent="0" marL="0">
              <a:lnSpc>
                <a:spcPct val="110000"/>
              </a:lnSpc>
              <a:buNone/>
            </a:pPr>
            <a:r>
              <a:rPr lang="en-US" sz="1300" dirty="0">
                <a:solidFill>
                  <a:srgbClr val="5B6382"/>
                </a:solidFill>
                <a:latin typeface="Segoe UI" pitchFamily="34" charset="0"/>
                <a:ea typeface="Segoe UI" pitchFamily="34" charset="-122"/>
                <a:cs typeface="Segoe UI" pitchFamily="34" charset="-120"/>
              </a:rPr>
              <a:t>The engineering decisions a panel usually asks about, in one picture.</a:t>
            </a:r>
            <a:endParaRPr lang="en-US" sz="1300" dirty="0"/>
          </a:p>
        </p:txBody>
      </p:sp>
      <p:sp>
        <p:nvSpPr>
          <p:cNvPr id="5" name="Shape 3"/>
          <p:cNvSpPr/>
          <p:nvPr/>
        </p:nvSpPr>
        <p:spPr>
          <a:xfrm>
            <a:off x="548640" y="1591056"/>
            <a:ext cx="3291840" cy="2139696"/>
          </a:xfrm>
          <a:prstGeom prst="roundRect">
            <a:avLst>
              <a:gd name="adj" fmla="val 4274"/>
            </a:avLst>
          </a:prstGeom>
          <a:solidFill>
            <a:srgbClr val="FFFFFF"/>
          </a:solidFill>
          <a:ln w="12700">
            <a:solidFill>
              <a:srgbClr val="E2E5F0"/>
            </a:solidFill>
            <a:prstDash val="solid"/>
          </a:ln>
        </p:spPr>
      </p:sp>
      <p:sp>
        <p:nvSpPr>
          <p:cNvPr id="6" name="Text 4"/>
          <p:cNvSpPr/>
          <p:nvPr/>
        </p:nvSpPr>
        <p:spPr>
          <a:xfrm>
            <a:off x="786384" y="1755648"/>
            <a:ext cx="2834640" cy="219456"/>
          </a:xfrm>
          <a:prstGeom prst="rect">
            <a:avLst/>
          </a:prstGeom>
          <a:noFill/>
          <a:ln/>
        </p:spPr>
        <p:txBody>
          <a:bodyPr wrap="square" lIns="0" tIns="0" rIns="0" bIns="0" rtlCol="0" anchor="t"/>
          <a:lstStyle/>
          <a:p>
            <a:pPr algn="l" indent="0" marL="0">
              <a:lnSpc>
                <a:spcPct val="110000"/>
              </a:lnSpc>
              <a:buNone/>
            </a:pPr>
            <a:r>
              <a:rPr lang="en-US" sz="850" b="1" spc="180" kern="0" dirty="0">
                <a:solidFill>
                  <a:srgbClr val="0B8F65"/>
                </a:solidFill>
                <a:latin typeface="Segoe UI" pitchFamily="34" charset="0"/>
                <a:ea typeface="Segoe UI" pitchFamily="34" charset="-122"/>
                <a:cs typeface="Segoe UI" pitchFamily="34" charset="-120"/>
              </a:rPr>
              <a:t>CLIENT</a:t>
            </a:r>
            <a:endParaRPr lang="en-US" sz="850" dirty="0"/>
          </a:p>
        </p:txBody>
      </p:sp>
      <p:sp>
        <p:nvSpPr>
          <p:cNvPr id="7" name="Text 5"/>
          <p:cNvSpPr/>
          <p:nvPr/>
        </p:nvSpPr>
        <p:spPr>
          <a:xfrm>
            <a:off x="786384" y="1993392"/>
            <a:ext cx="2834640" cy="310896"/>
          </a:xfrm>
          <a:prstGeom prst="rect">
            <a:avLst/>
          </a:prstGeom>
          <a:noFill/>
          <a:ln/>
        </p:spPr>
        <p:txBody>
          <a:bodyPr wrap="square" lIns="0" tIns="0" rIns="0" bIns="0" rtlCol="0" anchor="t"/>
          <a:lstStyle/>
          <a:p>
            <a:pPr algn="l" indent="0" marL="0">
              <a:lnSpc>
                <a:spcPct val="110000"/>
              </a:lnSpc>
              <a:buNone/>
            </a:pPr>
            <a:r>
              <a:rPr lang="en-US" sz="1450" b="1" dirty="0">
                <a:solidFill>
                  <a:srgbClr val="11162E"/>
                </a:solidFill>
                <a:latin typeface="Segoe UI" pitchFamily="34" charset="0"/>
                <a:ea typeface="Segoe UI" pitchFamily="34" charset="-122"/>
                <a:cs typeface="Segoe UI" pitchFamily="34" charset="-120"/>
              </a:rPr>
              <a:t>React Native + Expo</a:t>
            </a:r>
            <a:endParaRPr lang="en-US" sz="1450" dirty="0"/>
          </a:p>
        </p:txBody>
      </p:sp>
      <p:sp>
        <p:nvSpPr>
          <p:cNvPr id="8" name="Text 6"/>
          <p:cNvSpPr/>
          <p:nvPr/>
        </p:nvSpPr>
        <p:spPr>
          <a:xfrm>
            <a:off x="786384" y="2414016"/>
            <a:ext cx="2834640" cy="1097280"/>
          </a:xfrm>
          <a:prstGeom prst="rect">
            <a:avLst/>
          </a:prstGeom>
          <a:noFill/>
          <a:ln/>
        </p:spPr>
        <p:txBody>
          <a:bodyPr wrap="square" lIns="0" tIns="0" rIns="0" bIns="0" rtlCol="0" anchor="t"/>
          <a:lstStyle/>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One codebase → Android, iOS, web</a:t>
            </a:r>
            <a:endParaRPr lang="en-US" sz="1020" dirty="0"/>
          </a:p>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React Navigation · Zustand state</a:t>
            </a:r>
            <a:endParaRPr lang="en-US" sz="1020" dirty="0"/>
          </a:p>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Session in the phone’s secure store</a:t>
            </a:r>
            <a:endParaRPr lang="en-US" sz="1020" dirty="0"/>
          </a:p>
        </p:txBody>
      </p:sp>
      <p:sp>
        <p:nvSpPr>
          <p:cNvPr id="9" name="Shape 7"/>
          <p:cNvSpPr/>
          <p:nvPr/>
        </p:nvSpPr>
        <p:spPr>
          <a:xfrm>
            <a:off x="4443984" y="1591056"/>
            <a:ext cx="3291840" cy="2139696"/>
          </a:xfrm>
          <a:prstGeom prst="roundRect">
            <a:avLst>
              <a:gd name="adj" fmla="val 4274"/>
            </a:avLst>
          </a:prstGeom>
          <a:solidFill>
            <a:srgbClr val="FFFFFF"/>
          </a:solidFill>
          <a:ln w="12700">
            <a:solidFill>
              <a:srgbClr val="E2E5F0"/>
            </a:solidFill>
            <a:prstDash val="solid"/>
          </a:ln>
        </p:spPr>
      </p:sp>
      <p:sp>
        <p:nvSpPr>
          <p:cNvPr id="10" name="Text 8"/>
          <p:cNvSpPr/>
          <p:nvPr/>
        </p:nvSpPr>
        <p:spPr>
          <a:xfrm>
            <a:off x="4681728" y="1755648"/>
            <a:ext cx="2834640" cy="219456"/>
          </a:xfrm>
          <a:prstGeom prst="rect">
            <a:avLst/>
          </a:prstGeom>
          <a:noFill/>
          <a:ln/>
        </p:spPr>
        <p:txBody>
          <a:bodyPr wrap="square" lIns="0" tIns="0" rIns="0" bIns="0" rtlCol="0" anchor="t"/>
          <a:lstStyle/>
          <a:p>
            <a:pPr algn="l" indent="0" marL="0">
              <a:lnSpc>
                <a:spcPct val="110000"/>
              </a:lnSpc>
              <a:buNone/>
            </a:pPr>
            <a:r>
              <a:rPr lang="en-US" sz="850" b="1" spc="180" kern="0" dirty="0">
                <a:solidFill>
                  <a:srgbClr val="0B8F65"/>
                </a:solidFill>
                <a:latin typeface="Segoe UI" pitchFamily="34" charset="0"/>
                <a:ea typeface="Segoe UI" pitchFamily="34" charset="-122"/>
                <a:cs typeface="Segoe UI" pitchFamily="34" charset="-120"/>
              </a:rPr>
              <a:t>DATA &amp; AUTH</a:t>
            </a:r>
            <a:endParaRPr lang="en-US" sz="850" dirty="0"/>
          </a:p>
        </p:txBody>
      </p:sp>
      <p:sp>
        <p:nvSpPr>
          <p:cNvPr id="11" name="Text 9"/>
          <p:cNvSpPr/>
          <p:nvPr/>
        </p:nvSpPr>
        <p:spPr>
          <a:xfrm>
            <a:off x="4681728" y="1993392"/>
            <a:ext cx="2834640" cy="310896"/>
          </a:xfrm>
          <a:prstGeom prst="rect">
            <a:avLst/>
          </a:prstGeom>
          <a:noFill/>
          <a:ln/>
        </p:spPr>
        <p:txBody>
          <a:bodyPr wrap="square" lIns="0" tIns="0" rIns="0" bIns="0" rtlCol="0" anchor="t"/>
          <a:lstStyle/>
          <a:p>
            <a:pPr algn="l" indent="0" marL="0">
              <a:lnSpc>
                <a:spcPct val="110000"/>
              </a:lnSpc>
              <a:buNone/>
            </a:pPr>
            <a:r>
              <a:rPr lang="en-US" sz="1450" b="1" dirty="0">
                <a:solidFill>
                  <a:srgbClr val="11162E"/>
                </a:solidFill>
                <a:latin typeface="Segoe UI" pitchFamily="34" charset="0"/>
                <a:ea typeface="Segoe UI" pitchFamily="34" charset="-122"/>
                <a:cs typeface="Segoe UI" pitchFamily="34" charset="-120"/>
              </a:rPr>
              <a:t>Supabase</a:t>
            </a:r>
            <a:endParaRPr lang="en-US" sz="1450" dirty="0"/>
          </a:p>
        </p:txBody>
      </p:sp>
      <p:sp>
        <p:nvSpPr>
          <p:cNvPr id="12" name="Text 10"/>
          <p:cNvSpPr/>
          <p:nvPr/>
        </p:nvSpPr>
        <p:spPr>
          <a:xfrm>
            <a:off x="4681728" y="2414016"/>
            <a:ext cx="2834640" cy="1097280"/>
          </a:xfrm>
          <a:prstGeom prst="rect">
            <a:avLst/>
          </a:prstGeom>
          <a:noFill/>
          <a:ln/>
        </p:spPr>
        <p:txBody>
          <a:bodyPr wrap="square" lIns="0" tIns="0" rIns="0" bIns="0" rtlCol="0" anchor="t"/>
          <a:lstStyle/>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PostgreSQL + Row-Level Security</a:t>
            </a:r>
            <a:endParaRPr lang="en-US" sz="1020" dirty="0"/>
          </a:p>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Auth, Realtime chat, Storage</a:t>
            </a:r>
            <a:endParaRPr lang="en-US" sz="1020" dirty="0"/>
          </a:p>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Every row tied to one user</a:t>
            </a:r>
            <a:endParaRPr lang="en-US" sz="1020" dirty="0"/>
          </a:p>
        </p:txBody>
      </p:sp>
      <p:sp>
        <p:nvSpPr>
          <p:cNvPr id="13" name="Shape 11"/>
          <p:cNvSpPr/>
          <p:nvPr/>
        </p:nvSpPr>
        <p:spPr>
          <a:xfrm>
            <a:off x="8339328" y="1591056"/>
            <a:ext cx="3291840" cy="2139696"/>
          </a:xfrm>
          <a:prstGeom prst="roundRect">
            <a:avLst>
              <a:gd name="adj" fmla="val 4274"/>
            </a:avLst>
          </a:prstGeom>
          <a:solidFill>
            <a:srgbClr val="FFFFFF"/>
          </a:solidFill>
          <a:ln w="12700">
            <a:solidFill>
              <a:srgbClr val="E2E5F0"/>
            </a:solidFill>
            <a:prstDash val="solid"/>
          </a:ln>
        </p:spPr>
      </p:sp>
      <p:sp>
        <p:nvSpPr>
          <p:cNvPr id="14" name="Text 12"/>
          <p:cNvSpPr/>
          <p:nvPr/>
        </p:nvSpPr>
        <p:spPr>
          <a:xfrm>
            <a:off x="8577072" y="1755648"/>
            <a:ext cx="2834640" cy="219456"/>
          </a:xfrm>
          <a:prstGeom prst="rect">
            <a:avLst/>
          </a:prstGeom>
          <a:noFill/>
          <a:ln/>
        </p:spPr>
        <p:txBody>
          <a:bodyPr wrap="square" lIns="0" tIns="0" rIns="0" bIns="0" rtlCol="0" anchor="t"/>
          <a:lstStyle/>
          <a:p>
            <a:pPr algn="l" indent="0" marL="0">
              <a:lnSpc>
                <a:spcPct val="110000"/>
              </a:lnSpc>
              <a:buNone/>
            </a:pPr>
            <a:r>
              <a:rPr lang="en-US" sz="850" b="1" spc="180" kern="0" dirty="0">
                <a:solidFill>
                  <a:srgbClr val="0B8F65"/>
                </a:solidFill>
                <a:latin typeface="Segoe UI" pitchFamily="34" charset="0"/>
                <a:ea typeface="Segoe UI" pitchFamily="34" charset="-122"/>
                <a:cs typeface="Segoe UI" pitchFamily="34" charset="-120"/>
              </a:rPr>
              <a:t>SERVER-SIDE AI</a:t>
            </a:r>
            <a:endParaRPr lang="en-US" sz="850" dirty="0"/>
          </a:p>
        </p:txBody>
      </p:sp>
      <p:sp>
        <p:nvSpPr>
          <p:cNvPr id="15" name="Text 13"/>
          <p:cNvSpPr/>
          <p:nvPr/>
        </p:nvSpPr>
        <p:spPr>
          <a:xfrm>
            <a:off x="8577072" y="1993392"/>
            <a:ext cx="2834640" cy="310896"/>
          </a:xfrm>
          <a:prstGeom prst="rect">
            <a:avLst/>
          </a:prstGeom>
          <a:noFill/>
          <a:ln/>
        </p:spPr>
        <p:txBody>
          <a:bodyPr wrap="square" lIns="0" tIns="0" rIns="0" bIns="0" rtlCol="0" anchor="t"/>
          <a:lstStyle/>
          <a:p>
            <a:pPr algn="l" indent="0" marL="0">
              <a:lnSpc>
                <a:spcPct val="110000"/>
              </a:lnSpc>
              <a:buNone/>
            </a:pPr>
            <a:r>
              <a:rPr lang="en-US" sz="1450" b="1" dirty="0">
                <a:solidFill>
                  <a:srgbClr val="11162E"/>
                </a:solidFill>
                <a:latin typeface="Segoe UI" pitchFamily="34" charset="0"/>
                <a:ea typeface="Segoe UI" pitchFamily="34" charset="-122"/>
                <a:cs typeface="Segoe UI" pitchFamily="34" charset="-120"/>
              </a:rPr>
              <a:t>Edge Functions</a:t>
            </a:r>
            <a:endParaRPr lang="en-US" sz="1450" dirty="0"/>
          </a:p>
        </p:txBody>
      </p:sp>
      <p:sp>
        <p:nvSpPr>
          <p:cNvPr id="16" name="Text 14"/>
          <p:cNvSpPr/>
          <p:nvPr/>
        </p:nvSpPr>
        <p:spPr>
          <a:xfrm>
            <a:off x="8577072" y="2414016"/>
            <a:ext cx="2834640" cy="1097280"/>
          </a:xfrm>
          <a:prstGeom prst="rect">
            <a:avLst/>
          </a:prstGeom>
          <a:noFill/>
          <a:ln/>
        </p:spPr>
        <p:txBody>
          <a:bodyPr wrap="square" lIns="0" tIns="0" rIns="0" bIns="0" rtlCol="0" anchor="t"/>
          <a:lstStyle/>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ai-proxy · deepgram-proxy</a:t>
            </a:r>
            <a:endParaRPr lang="en-US" sz="1020" dirty="0"/>
          </a:p>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Keys live in Supabase secrets</a:t>
            </a:r>
            <a:endParaRPr lang="en-US" sz="1020" dirty="0"/>
          </a:p>
          <a:p>
            <a:pPr algn="l" indent="0" marL="0">
              <a:lnSpc>
                <a:spcPct val="142000"/>
              </a:lnSpc>
              <a:buNone/>
            </a:pPr>
            <a:r>
              <a:rPr lang="en-US" sz="1020" dirty="0">
                <a:solidFill>
                  <a:srgbClr val="5B6382"/>
                </a:solidFill>
                <a:latin typeface="Segoe UI" pitchFamily="34" charset="0"/>
                <a:ea typeface="Segoe UI" pitchFamily="34" charset="-122"/>
                <a:cs typeface="Segoe UI" pitchFamily="34" charset="-120"/>
              </a:rPr>
              <a:t>·  The app never calls the provider</a:t>
            </a:r>
            <a:endParaRPr lang="en-US" sz="1020" dirty="0"/>
          </a:p>
        </p:txBody>
      </p:sp>
      <p:sp>
        <p:nvSpPr>
          <p:cNvPr id="17" name="Shape 15"/>
          <p:cNvSpPr/>
          <p:nvPr/>
        </p:nvSpPr>
        <p:spPr>
          <a:xfrm>
            <a:off x="3986784" y="2414016"/>
            <a:ext cx="310896" cy="438912"/>
          </a:xfrm>
          <a:prstGeom prst="chevron">
            <a:avLst/>
          </a:prstGeom>
          <a:solidFill>
            <a:srgbClr val="E8F8F2"/>
          </a:solidFill>
          <a:ln w="12700">
            <a:solidFill>
              <a:srgbClr val="E8F8F2"/>
            </a:solidFill>
            <a:prstDash val="solid"/>
          </a:ln>
        </p:spPr>
      </p:sp>
      <p:sp>
        <p:nvSpPr>
          <p:cNvPr id="18" name="Shape 16"/>
          <p:cNvSpPr/>
          <p:nvPr/>
        </p:nvSpPr>
        <p:spPr>
          <a:xfrm>
            <a:off x="7882128" y="2414016"/>
            <a:ext cx="310896" cy="438912"/>
          </a:xfrm>
          <a:prstGeom prst="chevron">
            <a:avLst/>
          </a:prstGeom>
          <a:solidFill>
            <a:srgbClr val="E8F8F2"/>
          </a:solidFill>
          <a:ln w="12700">
            <a:solidFill>
              <a:srgbClr val="E8F8F2"/>
            </a:solidFill>
            <a:prstDash val="solid"/>
          </a:ln>
        </p:spPr>
      </p:sp>
      <p:sp>
        <p:nvSpPr>
          <p:cNvPr id="19" name="Shape 17"/>
          <p:cNvSpPr/>
          <p:nvPr/>
        </p:nvSpPr>
        <p:spPr>
          <a:xfrm>
            <a:off x="548640" y="3931920"/>
            <a:ext cx="1078992" cy="310896"/>
          </a:xfrm>
          <a:prstGeom prst="roundRect">
            <a:avLst>
              <a:gd name="adj" fmla="val 50000"/>
            </a:avLst>
          </a:prstGeom>
          <a:solidFill>
            <a:srgbClr val="FFFFFF"/>
          </a:solidFill>
          <a:ln w="12700">
            <a:solidFill>
              <a:srgbClr val="E2E5F0"/>
            </a:solidFill>
            <a:prstDash val="solid"/>
          </a:ln>
        </p:spPr>
      </p:sp>
      <p:sp>
        <p:nvSpPr>
          <p:cNvPr id="20" name="Text 18"/>
          <p:cNvSpPr/>
          <p:nvPr/>
        </p:nvSpPr>
        <p:spPr>
          <a:xfrm>
            <a:off x="548640" y="3941064"/>
            <a:ext cx="1078992" cy="292608"/>
          </a:xfrm>
          <a:prstGeom prst="rect">
            <a:avLst/>
          </a:prstGeom>
          <a:noFill/>
          <a:ln/>
        </p:spPr>
        <p:txBody>
          <a:bodyPr wrap="square" lIns="0" tIns="0" rIns="0" bIns="0" rtlCol="0" anchor="ctr"/>
          <a:lstStyle/>
          <a:p>
            <a:pPr algn="ctr" indent="0" marL="0">
              <a:lnSpc>
                <a:spcPct val="110000"/>
              </a:lnSpc>
              <a:buNone/>
            </a:pPr>
            <a:r>
              <a:rPr lang="en-US" sz="950" b="1" dirty="0">
                <a:solidFill>
                  <a:srgbClr val="5B6382"/>
                </a:solidFill>
                <a:latin typeface="Segoe UI" pitchFamily="34" charset="0"/>
                <a:ea typeface="Segoe UI" pitchFamily="34" charset="-122"/>
                <a:cs typeface="Segoe UI" pitchFamily="34" charset="-120"/>
              </a:rPr>
              <a:t>TypeScript</a:t>
            </a:r>
            <a:endParaRPr lang="en-US" sz="950" dirty="0"/>
          </a:p>
        </p:txBody>
      </p:sp>
      <p:sp>
        <p:nvSpPr>
          <p:cNvPr id="21" name="Shape 19"/>
          <p:cNvSpPr/>
          <p:nvPr/>
        </p:nvSpPr>
        <p:spPr>
          <a:xfrm>
            <a:off x="1755648" y="3931920"/>
            <a:ext cx="1603858" cy="310896"/>
          </a:xfrm>
          <a:prstGeom prst="roundRect">
            <a:avLst>
              <a:gd name="adj" fmla="val 50000"/>
            </a:avLst>
          </a:prstGeom>
          <a:solidFill>
            <a:srgbClr val="FFFFFF"/>
          </a:solidFill>
          <a:ln w="12700">
            <a:solidFill>
              <a:srgbClr val="E2E5F0"/>
            </a:solidFill>
            <a:prstDash val="solid"/>
          </a:ln>
        </p:spPr>
      </p:sp>
      <p:sp>
        <p:nvSpPr>
          <p:cNvPr id="22" name="Text 20"/>
          <p:cNvSpPr/>
          <p:nvPr/>
        </p:nvSpPr>
        <p:spPr>
          <a:xfrm>
            <a:off x="1755648" y="3941064"/>
            <a:ext cx="1603858" cy="292608"/>
          </a:xfrm>
          <a:prstGeom prst="rect">
            <a:avLst/>
          </a:prstGeom>
          <a:noFill/>
          <a:ln/>
        </p:spPr>
        <p:txBody>
          <a:bodyPr wrap="square" lIns="0" tIns="0" rIns="0" bIns="0" rtlCol="0" anchor="ctr"/>
          <a:lstStyle/>
          <a:p>
            <a:pPr algn="ctr" indent="0" marL="0">
              <a:lnSpc>
                <a:spcPct val="110000"/>
              </a:lnSpc>
              <a:buNone/>
            </a:pPr>
            <a:r>
              <a:rPr lang="en-US" sz="950" b="1" dirty="0">
                <a:solidFill>
                  <a:srgbClr val="5B6382"/>
                </a:solidFill>
                <a:latin typeface="Segoe UI" pitchFamily="34" charset="0"/>
                <a:ea typeface="Segoe UI" pitchFamily="34" charset="-122"/>
                <a:cs typeface="Segoe UI" pitchFamily="34" charset="-120"/>
              </a:rPr>
              <a:t>React Native 0.86</a:t>
            </a:r>
            <a:endParaRPr lang="en-US" sz="950" dirty="0"/>
          </a:p>
        </p:txBody>
      </p:sp>
      <p:sp>
        <p:nvSpPr>
          <p:cNvPr id="23" name="Shape 21"/>
          <p:cNvSpPr/>
          <p:nvPr/>
        </p:nvSpPr>
        <p:spPr>
          <a:xfrm>
            <a:off x="3487522" y="3931920"/>
            <a:ext cx="854050" cy="310896"/>
          </a:xfrm>
          <a:prstGeom prst="roundRect">
            <a:avLst>
              <a:gd name="adj" fmla="val 50000"/>
            </a:avLst>
          </a:prstGeom>
          <a:solidFill>
            <a:srgbClr val="FFFFFF"/>
          </a:solidFill>
          <a:ln w="12700">
            <a:solidFill>
              <a:srgbClr val="E2E5F0"/>
            </a:solidFill>
            <a:prstDash val="solid"/>
          </a:ln>
        </p:spPr>
      </p:sp>
      <p:sp>
        <p:nvSpPr>
          <p:cNvPr id="24" name="Text 22"/>
          <p:cNvSpPr/>
          <p:nvPr/>
        </p:nvSpPr>
        <p:spPr>
          <a:xfrm>
            <a:off x="3487522" y="3941064"/>
            <a:ext cx="854050" cy="292608"/>
          </a:xfrm>
          <a:prstGeom prst="rect">
            <a:avLst/>
          </a:prstGeom>
          <a:noFill/>
          <a:ln/>
        </p:spPr>
        <p:txBody>
          <a:bodyPr wrap="square" lIns="0" tIns="0" rIns="0" bIns="0" rtlCol="0" anchor="ctr"/>
          <a:lstStyle/>
          <a:p>
            <a:pPr algn="ctr" indent="0" marL="0">
              <a:lnSpc>
                <a:spcPct val="110000"/>
              </a:lnSpc>
              <a:buNone/>
            </a:pPr>
            <a:r>
              <a:rPr lang="en-US" sz="950" b="1" dirty="0">
                <a:solidFill>
                  <a:srgbClr val="5B6382"/>
                </a:solidFill>
                <a:latin typeface="Segoe UI" pitchFamily="34" charset="0"/>
                <a:ea typeface="Segoe UI" pitchFamily="34" charset="-122"/>
                <a:cs typeface="Segoe UI" pitchFamily="34" charset="-120"/>
              </a:rPr>
              <a:t>Expo 57</a:t>
            </a:r>
            <a:endParaRPr lang="en-US" sz="950" dirty="0"/>
          </a:p>
        </p:txBody>
      </p:sp>
      <p:sp>
        <p:nvSpPr>
          <p:cNvPr id="25" name="Shape 23"/>
          <p:cNvSpPr/>
          <p:nvPr/>
        </p:nvSpPr>
        <p:spPr>
          <a:xfrm>
            <a:off x="4469587" y="3931920"/>
            <a:ext cx="929030" cy="310896"/>
          </a:xfrm>
          <a:prstGeom prst="roundRect">
            <a:avLst>
              <a:gd name="adj" fmla="val 50000"/>
            </a:avLst>
          </a:prstGeom>
          <a:solidFill>
            <a:srgbClr val="FFFFFF"/>
          </a:solidFill>
          <a:ln w="12700">
            <a:solidFill>
              <a:srgbClr val="E2E5F0"/>
            </a:solidFill>
            <a:prstDash val="solid"/>
          </a:ln>
        </p:spPr>
      </p:sp>
      <p:sp>
        <p:nvSpPr>
          <p:cNvPr id="26" name="Text 24"/>
          <p:cNvSpPr/>
          <p:nvPr/>
        </p:nvSpPr>
        <p:spPr>
          <a:xfrm>
            <a:off x="4469587" y="3941064"/>
            <a:ext cx="929030" cy="292608"/>
          </a:xfrm>
          <a:prstGeom prst="rect">
            <a:avLst/>
          </a:prstGeom>
          <a:noFill/>
          <a:ln/>
        </p:spPr>
        <p:txBody>
          <a:bodyPr wrap="square" lIns="0" tIns="0" rIns="0" bIns="0" rtlCol="0" anchor="ctr"/>
          <a:lstStyle/>
          <a:p>
            <a:pPr algn="ctr" indent="0" marL="0">
              <a:lnSpc>
                <a:spcPct val="110000"/>
              </a:lnSpc>
              <a:buNone/>
            </a:pPr>
            <a:r>
              <a:rPr lang="en-US" sz="950" b="1" dirty="0">
                <a:solidFill>
                  <a:srgbClr val="5B6382"/>
                </a:solidFill>
                <a:latin typeface="Segoe UI" pitchFamily="34" charset="0"/>
                <a:ea typeface="Segoe UI" pitchFamily="34" charset="-122"/>
                <a:cs typeface="Segoe UI" pitchFamily="34" charset="-120"/>
              </a:rPr>
              <a:t>Supabase</a:t>
            </a:r>
            <a:endParaRPr lang="en-US" sz="950" dirty="0"/>
          </a:p>
        </p:txBody>
      </p:sp>
      <p:sp>
        <p:nvSpPr>
          <p:cNvPr id="27" name="Shape 25"/>
          <p:cNvSpPr/>
          <p:nvPr/>
        </p:nvSpPr>
        <p:spPr>
          <a:xfrm>
            <a:off x="5526634" y="3931920"/>
            <a:ext cx="854050" cy="310896"/>
          </a:xfrm>
          <a:prstGeom prst="roundRect">
            <a:avLst>
              <a:gd name="adj" fmla="val 50000"/>
            </a:avLst>
          </a:prstGeom>
          <a:solidFill>
            <a:srgbClr val="FFFFFF"/>
          </a:solidFill>
          <a:ln w="12700">
            <a:solidFill>
              <a:srgbClr val="E2E5F0"/>
            </a:solidFill>
            <a:prstDash val="solid"/>
          </a:ln>
        </p:spPr>
      </p:sp>
      <p:sp>
        <p:nvSpPr>
          <p:cNvPr id="28" name="Text 26"/>
          <p:cNvSpPr/>
          <p:nvPr/>
        </p:nvSpPr>
        <p:spPr>
          <a:xfrm>
            <a:off x="5526634" y="3941064"/>
            <a:ext cx="854050" cy="292608"/>
          </a:xfrm>
          <a:prstGeom prst="rect">
            <a:avLst/>
          </a:prstGeom>
          <a:noFill/>
          <a:ln/>
        </p:spPr>
        <p:txBody>
          <a:bodyPr wrap="square" lIns="0" tIns="0" rIns="0" bIns="0" rtlCol="0" anchor="ctr"/>
          <a:lstStyle/>
          <a:p>
            <a:pPr algn="ctr" indent="0" marL="0">
              <a:lnSpc>
                <a:spcPct val="110000"/>
              </a:lnSpc>
              <a:buNone/>
            </a:pPr>
            <a:r>
              <a:rPr lang="en-US" sz="950" b="1" dirty="0">
                <a:solidFill>
                  <a:srgbClr val="5B6382"/>
                </a:solidFill>
                <a:latin typeface="Segoe UI" pitchFamily="34" charset="0"/>
                <a:ea typeface="Segoe UI" pitchFamily="34" charset="-122"/>
                <a:cs typeface="Segoe UI" pitchFamily="34" charset="-120"/>
              </a:rPr>
              <a:t>Zustand</a:t>
            </a:r>
            <a:endParaRPr lang="en-US" sz="950" dirty="0"/>
          </a:p>
        </p:txBody>
      </p:sp>
      <p:sp>
        <p:nvSpPr>
          <p:cNvPr id="29" name="Shape 27"/>
          <p:cNvSpPr/>
          <p:nvPr/>
        </p:nvSpPr>
        <p:spPr>
          <a:xfrm>
            <a:off x="6508699" y="3931920"/>
            <a:ext cx="1903781" cy="310896"/>
          </a:xfrm>
          <a:prstGeom prst="roundRect">
            <a:avLst>
              <a:gd name="adj" fmla="val 50000"/>
            </a:avLst>
          </a:prstGeom>
          <a:solidFill>
            <a:srgbClr val="FFFFFF"/>
          </a:solidFill>
          <a:ln w="12700">
            <a:solidFill>
              <a:srgbClr val="E2E5F0"/>
            </a:solidFill>
            <a:prstDash val="solid"/>
          </a:ln>
        </p:spPr>
      </p:sp>
      <p:sp>
        <p:nvSpPr>
          <p:cNvPr id="30" name="Text 28"/>
          <p:cNvSpPr/>
          <p:nvPr/>
        </p:nvSpPr>
        <p:spPr>
          <a:xfrm>
            <a:off x="6508699" y="3941064"/>
            <a:ext cx="1903781" cy="292608"/>
          </a:xfrm>
          <a:prstGeom prst="rect">
            <a:avLst/>
          </a:prstGeom>
          <a:noFill/>
          <a:ln/>
        </p:spPr>
        <p:txBody>
          <a:bodyPr wrap="square" lIns="0" tIns="0" rIns="0" bIns="0" rtlCol="0" anchor="ctr"/>
          <a:lstStyle/>
          <a:p>
            <a:pPr algn="ctr" indent="0" marL="0">
              <a:lnSpc>
                <a:spcPct val="110000"/>
              </a:lnSpc>
              <a:buNone/>
            </a:pPr>
            <a:r>
              <a:rPr lang="en-US" sz="950" b="1" dirty="0">
                <a:solidFill>
                  <a:srgbClr val="5B6382"/>
                </a:solidFill>
                <a:latin typeface="Segoe UI" pitchFamily="34" charset="0"/>
                <a:ea typeface="Segoe UI" pitchFamily="34" charset="-122"/>
                <a:cs typeface="Segoe UI" pitchFamily="34" charset="-120"/>
              </a:rPr>
              <a:t>NVIDIA · Nemotron 3.5</a:t>
            </a:r>
            <a:endParaRPr lang="en-US" sz="950" dirty="0"/>
          </a:p>
        </p:txBody>
      </p:sp>
      <p:sp>
        <p:nvSpPr>
          <p:cNvPr id="31" name="Shape 29"/>
          <p:cNvSpPr/>
          <p:nvPr/>
        </p:nvSpPr>
        <p:spPr>
          <a:xfrm>
            <a:off x="8540496" y="3931920"/>
            <a:ext cx="929030" cy="310896"/>
          </a:xfrm>
          <a:prstGeom prst="roundRect">
            <a:avLst>
              <a:gd name="adj" fmla="val 50000"/>
            </a:avLst>
          </a:prstGeom>
          <a:solidFill>
            <a:srgbClr val="FFFFFF"/>
          </a:solidFill>
          <a:ln w="12700">
            <a:solidFill>
              <a:srgbClr val="E2E5F0"/>
            </a:solidFill>
            <a:prstDash val="solid"/>
          </a:ln>
        </p:spPr>
      </p:sp>
      <p:sp>
        <p:nvSpPr>
          <p:cNvPr id="32" name="Text 30"/>
          <p:cNvSpPr/>
          <p:nvPr/>
        </p:nvSpPr>
        <p:spPr>
          <a:xfrm>
            <a:off x="8540496" y="3941064"/>
            <a:ext cx="929030" cy="292608"/>
          </a:xfrm>
          <a:prstGeom prst="rect">
            <a:avLst/>
          </a:prstGeom>
          <a:noFill/>
          <a:ln/>
        </p:spPr>
        <p:txBody>
          <a:bodyPr wrap="square" lIns="0" tIns="0" rIns="0" bIns="0" rtlCol="0" anchor="ctr"/>
          <a:lstStyle/>
          <a:p>
            <a:pPr algn="ctr" indent="0" marL="0">
              <a:lnSpc>
                <a:spcPct val="110000"/>
              </a:lnSpc>
              <a:buNone/>
            </a:pPr>
            <a:r>
              <a:rPr lang="en-US" sz="950" b="1" dirty="0">
                <a:solidFill>
                  <a:srgbClr val="5B6382"/>
                </a:solidFill>
                <a:latin typeface="Segoe UI" pitchFamily="34" charset="0"/>
                <a:ea typeface="Segoe UI" pitchFamily="34" charset="-122"/>
                <a:cs typeface="Segoe UI" pitchFamily="34" charset="-120"/>
              </a:rPr>
              <a:t>Deepgram</a:t>
            </a:r>
            <a:endParaRPr lang="en-US" sz="950" dirty="0"/>
          </a:p>
        </p:txBody>
      </p:sp>
      <p:sp>
        <p:nvSpPr>
          <p:cNvPr id="33" name="Shape 31"/>
          <p:cNvSpPr/>
          <p:nvPr/>
        </p:nvSpPr>
        <p:spPr>
          <a:xfrm>
            <a:off x="548640" y="4498848"/>
            <a:ext cx="3566160" cy="1170432"/>
          </a:xfrm>
          <a:prstGeom prst="roundRect">
            <a:avLst>
              <a:gd name="adj" fmla="val 7813"/>
            </a:avLst>
          </a:prstGeom>
          <a:solidFill>
            <a:srgbClr val="FFFFFF"/>
          </a:solidFill>
          <a:ln w="12700">
            <a:solidFill>
              <a:srgbClr val="E2E5F0"/>
            </a:solidFill>
            <a:prstDash val="solid"/>
          </a:ln>
        </p:spPr>
      </p:sp>
      <p:sp>
        <p:nvSpPr>
          <p:cNvPr id="34" name="Shape 32"/>
          <p:cNvSpPr/>
          <p:nvPr/>
        </p:nvSpPr>
        <p:spPr>
          <a:xfrm>
            <a:off x="786384" y="4663440"/>
            <a:ext cx="603504" cy="365760"/>
          </a:xfrm>
          <a:prstGeom prst="roundRect">
            <a:avLst>
              <a:gd name="adj" fmla="val 22500"/>
            </a:avLst>
          </a:prstGeom>
          <a:solidFill>
            <a:srgbClr val="EFEBFF"/>
          </a:solidFill>
          <a:ln w="12700">
            <a:solidFill>
              <a:srgbClr val="EFEBFF"/>
            </a:solidFill>
            <a:prstDash val="solid"/>
          </a:ln>
        </p:spPr>
      </p:sp>
      <p:sp>
        <p:nvSpPr>
          <p:cNvPr id="35" name="Text 33"/>
          <p:cNvSpPr/>
          <p:nvPr/>
        </p:nvSpPr>
        <p:spPr>
          <a:xfrm>
            <a:off x="786384" y="4663440"/>
            <a:ext cx="603504" cy="365760"/>
          </a:xfrm>
          <a:prstGeom prst="rect">
            <a:avLst/>
          </a:prstGeom>
          <a:noFill/>
          <a:ln/>
        </p:spPr>
        <p:txBody>
          <a:bodyPr wrap="square" lIns="0" tIns="0" rIns="0" bIns="0" rtlCol="0" anchor="ctr"/>
          <a:lstStyle/>
          <a:p>
            <a:pPr algn="ctr" indent="0" marL="0">
              <a:lnSpc>
                <a:spcPct val="110000"/>
              </a:lnSpc>
              <a:buNone/>
            </a:pPr>
            <a:r>
              <a:rPr lang="en-US" sz="900" b="1" dirty="0">
                <a:solidFill>
                  <a:srgbClr val="7C5CFF"/>
                </a:solidFill>
                <a:latin typeface="Segoe UI" pitchFamily="34" charset="0"/>
                <a:ea typeface="Segoe UI" pitchFamily="34" charset="-122"/>
                <a:cs typeface="Segoe UI" pitchFamily="34" charset="-120"/>
              </a:rPr>
              <a:t>RLS</a:t>
            </a:r>
            <a:endParaRPr lang="en-US" sz="900" dirty="0"/>
          </a:p>
        </p:txBody>
      </p:sp>
      <p:sp>
        <p:nvSpPr>
          <p:cNvPr id="36" name="Text 34"/>
          <p:cNvSpPr/>
          <p:nvPr/>
        </p:nvSpPr>
        <p:spPr>
          <a:xfrm>
            <a:off x="1517904" y="4626864"/>
            <a:ext cx="2377440" cy="822960"/>
          </a:xfrm>
          <a:prstGeom prst="rect">
            <a:avLst/>
          </a:prstGeom>
          <a:noFill/>
          <a:ln/>
        </p:spPr>
        <p:txBody>
          <a:bodyPr wrap="square" lIns="0" tIns="0" rIns="0" bIns="0" rtlCol="0" anchor="ctr"/>
          <a:lstStyle/>
          <a:p>
            <a:pPr algn="l" indent="0" marL="0">
              <a:lnSpc>
                <a:spcPct val="125000"/>
              </a:lnSpc>
              <a:buNone/>
            </a:pPr>
            <a:r>
              <a:rPr lang="en-US" sz="1050" dirty="0">
                <a:solidFill>
                  <a:srgbClr val="5B6382"/>
                </a:solidFill>
                <a:latin typeface="Segoe UI" pitchFamily="34" charset="0"/>
                <a:ea typeface="Segoe UI" pitchFamily="34" charset="-122"/>
                <a:cs typeface="Segoe UI" pitchFamily="34" charset="-120"/>
              </a:rPr>
              <a:t>PostgreSQL policies: user_id = auth.uid()</a:t>
            </a:r>
            <a:endParaRPr lang="en-US" sz="1050" dirty="0"/>
          </a:p>
        </p:txBody>
      </p:sp>
      <p:sp>
        <p:nvSpPr>
          <p:cNvPr id="37" name="Shape 35"/>
          <p:cNvSpPr/>
          <p:nvPr/>
        </p:nvSpPr>
        <p:spPr>
          <a:xfrm>
            <a:off x="4315968" y="4498848"/>
            <a:ext cx="3566160" cy="1170432"/>
          </a:xfrm>
          <a:prstGeom prst="roundRect">
            <a:avLst>
              <a:gd name="adj" fmla="val 7813"/>
            </a:avLst>
          </a:prstGeom>
          <a:solidFill>
            <a:srgbClr val="FFFFFF"/>
          </a:solidFill>
          <a:ln w="12700">
            <a:solidFill>
              <a:srgbClr val="E2E5F0"/>
            </a:solidFill>
            <a:prstDash val="solid"/>
          </a:ln>
        </p:spPr>
      </p:sp>
      <p:sp>
        <p:nvSpPr>
          <p:cNvPr id="38" name="Shape 36"/>
          <p:cNvSpPr/>
          <p:nvPr/>
        </p:nvSpPr>
        <p:spPr>
          <a:xfrm>
            <a:off x="4553712" y="4663440"/>
            <a:ext cx="603504" cy="365760"/>
          </a:xfrm>
          <a:prstGeom prst="roundRect">
            <a:avLst>
              <a:gd name="adj" fmla="val 22500"/>
            </a:avLst>
          </a:prstGeom>
          <a:solidFill>
            <a:srgbClr val="FFF1E6"/>
          </a:solidFill>
          <a:ln w="12700">
            <a:solidFill>
              <a:srgbClr val="FFF1E6"/>
            </a:solidFill>
            <a:prstDash val="solid"/>
          </a:ln>
        </p:spPr>
      </p:sp>
      <p:sp>
        <p:nvSpPr>
          <p:cNvPr id="39" name="Text 37"/>
          <p:cNvSpPr/>
          <p:nvPr/>
        </p:nvSpPr>
        <p:spPr>
          <a:xfrm>
            <a:off x="4553712" y="4663440"/>
            <a:ext cx="603504" cy="365760"/>
          </a:xfrm>
          <a:prstGeom prst="rect">
            <a:avLst/>
          </a:prstGeom>
          <a:noFill/>
          <a:ln/>
        </p:spPr>
        <p:txBody>
          <a:bodyPr wrap="square" lIns="0" tIns="0" rIns="0" bIns="0" rtlCol="0" anchor="ctr"/>
          <a:lstStyle/>
          <a:p>
            <a:pPr algn="ctr" indent="0" marL="0">
              <a:lnSpc>
                <a:spcPct val="110000"/>
              </a:lnSpc>
              <a:buNone/>
            </a:pPr>
            <a:r>
              <a:rPr lang="en-US" sz="900" b="1" dirty="0">
                <a:solidFill>
                  <a:srgbClr val="F97316"/>
                </a:solidFill>
                <a:latin typeface="Segoe UI" pitchFamily="34" charset="0"/>
                <a:ea typeface="Segoe UI" pitchFamily="34" charset="-122"/>
                <a:cs typeface="Segoe UI" pitchFamily="34" charset="-120"/>
              </a:rPr>
              <a:t>KEY</a:t>
            </a:r>
            <a:endParaRPr lang="en-US" sz="900" dirty="0"/>
          </a:p>
        </p:txBody>
      </p:sp>
      <p:sp>
        <p:nvSpPr>
          <p:cNvPr id="40" name="Text 38"/>
          <p:cNvSpPr/>
          <p:nvPr/>
        </p:nvSpPr>
        <p:spPr>
          <a:xfrm>
            <a:off x="5285232" y="4626864"/>
            <a:ext cx="2377440" cy="822960"/>
          </a:xfrm>
          <a:prstGeom prst="rect">
            <a:avLst/>
          </a:prstGeom>
          <a:noFill/>
          <a:ln/>
        </p:spPr>
        <p:txBody>
          <a:bodyPr wrap="square" lIns="0" tIns="0" rIns="0" bIns="0" rtlCol="0" anchor="ctr"/>
          <a:lstStyle/>
          <a:p>
            <a:pPr algn="l" indent="0" marL="0">
              <a:lnSpc>
                <a:spcPct val="125000"/>
              </a:lnSpc>
              <a:buNone/>
            </a:pPr>
            <a:r>
              <a:rPr lang="en-US" sz="1050" dirty="0">
                <a:solidFill>
                  <a:srgbClr val="5B6382"/>
                </a:solidFill>
                <a:latin typeface="Segoe UI" pitchFamily="34" charset="0"/>
                <a:ea typeface="Segoe UI" pitchFamily="34" charset="-122"/>
                <a:cs typeface="Segoe UI" pitchFamily="34" charset="-120"/>
              </a:rPr>
              <a:t>API keys only in server secrets</a:t>
            </a:r>
            <a:endParaRPr lang="en-US" sz="1050" dirty="0"/>
          </a:p>
        </p:txBody>
      </p:sp>
      <p:sp>
        <p:nvSpPr>
          <p:cNvPr id="41" name="Shape 39"/>
          <p:cNvSpPr/>
          <p:nvPr/>
        </p:nvSpPr>
        <p:spPr>
          <a:xfrm>
            <a:off x="8083296" y="4498848"/>
            <a:ext cx="3566160" cy="1170432"/>
          </a:xfrm>
          <a:prstGeom prst="roundRect">
            <a:avLst>
              <a:gd name="adj" fmla="val 7813"/>
            </a:avLst>
          </a:prstGeom>
          <a:solidFill>
            <a:srgbClr val="FFFFFF"/>
          </a:solidFill>
          <a:ln w="12700">
            <a:solidFill>
              <a:srgbClr val="E2E5F0"/>
            </a:solidFill>
            <a:prstDash val="solid"/>
          </a:ln>
        </p:spPr>
      </p:sp>
      <p:sp>
        <p:nvSpPr>
          <p:cNvPr id="42" name="Shape 40"/>
          <p:cNvSpPr/>
          <p:nvPr/>
        </p:nvSpPr>
        <p:spPr>
          <a:xfrm>
            <a:off x="8321040" y="4663440"/>
            <a:ext cx="603504" cy="365760"/>
          </a:xfrm>
          <a:prstGeom prst="roundRect">
            <a:avLst>
              <a:gd name="adj" fmla="val 22500"/>
            </a:avLst>
          </a:prstGeom>
          <a:solidFill>
            <a:srgbClr val="E8F8F2"/>
          </a:solidFill>
          <a:ln w="12700">
            <a:solidFill>
              <a:srgbClr val="E8F8F2"/>
            </a:solidFill>
            <a:prstDash val="solid"/>
          </a:ln>
        </p:spPr>
      </p:sp>
      <p:sp>
        <p:nvSpPr>
          <p:cNvPr id="43" name="Text 41"/>
          <p:cNvSpPr/>
          <p:nvPr/>
        </p:nvSpPr>
        <p:spPr>
          <a:xfrm>
            <a:off x="8321040" y="4663440"/>
            <a:ext cx="603504" cy="365760"/>
          </a:xfrm>
          <a:prstGeom prst="rect">
            <a:avLst/>
          </a:prstGeom>
          <a:noFill/>
          <a:ln/>
        </p:spPr>
        <p:txBody>
          <a:bodyPr wrap="square" lIns="0" tIns="0" rIns="0" bIns="0" rtlCol="0" anchor="ctr"/>
          <a:lstStyle/>
          <a:p>
            <a:pPr algn="ctr" indent="0" marL="0">
              <a:lnSpc>
                <a:spcPct val="110000"/>
              </a:lnSpc>
              <a:buNone/>
            </a:pPr>
            <a:r>
              <a:rPr lang="en-US" sz="900" b="1" dirty="0">
                <a:solidFill>
                  <a:srgbClr val="0B8F65"/>
                </a:solidFill>
                <a:latin typeface="Segoe UI" pitchFamily="34" charset="0"/>
                <a:ea typeface="Segoe UI" pitchFamily="34" charset="-122"/>
                <a:cs typeface="Segoe UI" pitchFamily="34" charset="-120"/>
              </a:rPr>
              <a:t>AUTH</a:t>
            </a:r>
            <a:endParaRPr lang="en-US" sz="900" dirty="0"/>
          </a:p>
        </p:txBody>
      </p:sp>
      <p:sp>
        <p:nvSpPr>
          <p:cNvPr id="44" name="Text 42"/>
          <p:cNvSpPr/>
          <p:nvPr/>
        </p:nvSpPr>
        <p:spPr>
          <a:xfrm>
            <a:off x="9052560" y="4626864"/>
            <a:ext cx="2377440" cy="822960"/>
          </a:xfrm>
          <a:prstGeom prst="rect">
            <a:avLst/>
          </a:prstGeom>
          <a:noFill/>
          <a:ln/>
        </p:spPr>
        <p:txBody>
          <a:bodyPr wrap="square" lIns="0" tIns="0" rIns="0" bIns="0" rtlCol="0" anchor="ctr"/>
          <a:lstStyle/>
          <a:p>
            <a:pPr algn="l" indent="0" marL="0">
              <a:lnSpc>
                <a:spcPct val="125000"/>
              </a:lnSpc>
              <a:buNone/>
            </a:pPr>
            <a:r>
              <a:rPr lang="en-US" sz="1050" dirty="0">
                <a:solidFill>
                  <a:srgbClr val="5B6382"/>
                </a:solidFill>
                <a:latin typeface="Segoe UI" pitchFamily="34" charset="0"/>
                <a:ea typeface="Segoe UI" pitchFamily="34" charset="-122"/>
                <a:cs typeface="Segoe UI" pitchFamily="34" charset="-120"/>
              </a:rPr>
              <a:t>Anonymous login, token in secure storage</a:t>
            </a:r>
            <a:endParaRPr lang="en-US" sz="1050" dirty="0"/>
          </a:p>
        </p:txBody>
      </p:sp>
      <p:sp>
        <p:nvSpPr>
          <p:cNvPr id="45" name="Text 43"/>
          <p:cNvSpPr/>
          <p:nvPr/>
        </p:nvSpPr>
        <p:spPr>
          <a:xfrm>
            <a:off x="566928" y="5888736"/>
            <a:ext cx="11064240" cy="274320"/>
          </a:xfrm>
          <a:prstGeom prst="rect">
            <a:avLst/>
          </a:prstGeom>
          <a:noFill/>
          <a:ln/>
        </p:spPr>
        <p:txBody>
          <a:bodyPr wrap="square" lIns="0" tIns="0" rIns="0" bIns="0" rtlCol="0" anchor="t"/>
          <a:lstStyle/>
          <a:p>
            <a:pPr algn="l" indent="0" marL="0">
              <a:lnSpc>
                <a:spcPct val="110000"/>
              </a:lnSpc>
              <a:buNone/>
            </a:pPr>
            <a:r>
              <a:rPr lang="en-US" sz="1000" i="1" dirty="0">
                <a:solidFill>
                  <a:srgbClr val="F97316"/>
                </a:solidFill>
                <a:latin typeface="Segoe UI" pitchFamily="34" charset="0"/>
                <a:ea typeface="Segoe UI" pitchFamily="34" charset="-122"/>
                <a:cs typeface="Segoe UI" pitchFamily="34" charset="-120"/>
              </a:rPr>
              <a:t>Next: lock the AI proxy to signed-in users  ·  complete server-side account deletion — both written down, not hidden.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66928" y="365760"/>
            <a:ext cx="10789920" cy="237744"/>
          </a:xfrm>
          <a:prstGeom prst="rect">
            <a:avLst/>
          </a:prstGeom>
          <a:noFill/>
          <a:ln/>
        </p:spPr>
        <p:txBody>
          <a:bodyPr wrap="square" lIns="0" tIns="0" rIns="0" bIns="0" rtlCol="0" anchor="t"/>
          <a:lstStyle/>
          <a:p>
            <a:pPr algn="l" indent="0" marL="0">
              <a:lnSpc>
                <a:spcPct val="110000"/>
              </a:lnSpc>
              <a:buNone/>
            </a:pPr>
            <a:r>
              <a:rPr lang="en-US" sz="1000" b="1" spc="240" kern="0" dirty="0">
                <a:solidFill>
                  <a:srgbClr val="0B8F65"/>
                </a:solidFill>
                <a:latin typeface="Segoe UI" pitchFamily="34" charset="0"/>
                <a:ea typeface="Segoe UI" pitchFamily="34" charset="-122"/>
                <a:cs typeface="Segoe UI" pitchFamily="34" charset="-120"/>
              </a:rPr>
              <a:t>PROOF &amp; STATUS</a:t>
            </a:r>
            <a:endParaRPr lang="en-US" sz="1000" dirty="0"/>
          </a:p>
        </p:txBody>
      </p:sp>
      <p:sp>
        <p:nvSpPr>
          <p:cNvPr id="3" name="Text 1"/>
          <p:cNvSpPr/>
          <p:nvPr/>
        </p:nvSpPr>
        <p:spPr>
          <a:xfrm>
            <a:off x="548640" y="640080"/>
            <a:ext cx="11064240" cy="548640"/>
          </a:xfrm>
          <a:prstGeom prst="rect">
            <a:avLst/>
          </a:prstGeom>
          <a:noFill/>
          <a:ln/>
        </p:spPr>
        <p:txBody>
          <a:bodyPr wrap="square" lIns="0" tIns="0" rIns="0" bIns="0" rtlCol="0" anchor="t"/>
          <a:lstStyle/>
          <a:p>
            <a:pPr algn="l" indent="0" marL="0">
              <a:lnSpc>
                <a:spcPct val="110000"/>
              </a:lnSpc>
              <a:buNone/>
            </a:pPr>
            <a:r>
              <a:rPr lang="en-US" sz="3000" b="1" dirty="0">
                <a:solidFill>
                  <a:srgbClr val="11162E"/>
                </a:solidFill>
                <a:latin typeface="Segoe UI" pitchFamily="34" charset="0"/>
                <a:ea typeface="Segoe UI" pitchFamily="34" charset="-122"/>
                <a:cs typeface="Segoe UI" pitchFamily="34" charset="-120"/>
              </a:rPr>
              <a:t>What we tested, and where it stands</a:t>
            </a:r>
            <a:endParaRPr lang="en-US" sz="3000" dirty="0"/>
          </a:p>
        </p:txBody>
      </p:sp>
      <p:sp>
        <p:nvSpPr>
          <p:cNvPr id="4" name="Text 2"/>
          <p:cNvSpPr/>
          <p:nvPr/>
        </p:nvSpPr>
        <p:spPr>
          <a:xfrm>
            <a:off x="566928" y="1225296"/>
            <a:ext cx="10881360" cy="292608"/>
          </a:xfrm>
          <a:prstGeom prst="rect">
            <a:avLst/>
          </a:prstGeom>
          <a:noFill/>
          <a:ln/>
        </p:spPr>
        <p:txBody>
          <a:bodyPr wrap="square" lIns="0" tIns="0" rIns="0" bIns="0" rtlCol="0" anchor="t"/>
          <a:lstStyle/>
          <a:p>
            <a:pPr algn="l" indent="0" marL="0">
              <a:lnSpc>
                <a:spcPct val="110000"/>
              </a:lnSpc>
              <a:buNone/>
            </a:pPr>
            <a:r>
              <a:rPr lang="en-US" sz="1300" dirty="0">
                <a:solidFill>
                  <a:srgbClr val="5B6382"/>
                </a:solidFill>
                <a:latin typeface="Segoe UI" pitchFamily="34" charset="0"/>
                <a:ea typeface="Segoe UI" pitchFamily="34" charset="-122"/>
                <a:cs typeface="Segoe UI" pitchFamily="34" charset="-120"/>
              </a:rPr>
              <a:t>Three layers: read the code, automate what repeats, then test on a real phone.</a:t>
            </a:r>
            <a:endParaRPr lang="en-US" sz="1300" dirty="0"/>
          </a:p>
        </p:txBody>
      </p:sp>
      <p:sp>
        <p:nvSpPr>
          <p:cNvPr id="5" name="Shape 3"/>
          <p:cNvSpPr/>
          <p:nvPr/>
        </p:nvSpPr>
        <p:spPr>
          <a:xfrm>
            <a:off x="548640" y="1572768"/>
            <a:ext cx="3566160" cy="1060704"/>
          </a:xfrm>
          <a:prstGeom prst="roundRect">
            <a:avLst>
              <a:gd name="adj" fmla="val 8621"/>
            </a:avLst>
          </a:prstGeom>
          <a:solidFill>
            <a:srgbClr val="FFFFFF"/>
          </a:solidFill>
          <a:ln w="12700">
            <a:solidFill>
              <a:srgbClr val="E2E5F0"/>
            </a:solidFill>
            <a:prstDash val="solid"/>
          </a:ln>
        </p:spPr>
      </p:sp>
      <p:sp>
        <p:nvSpPr>
          <p:cNvPr id="6" name="Text 4"/>
          <p:cNvSpPr/>
          <p:nvPr/>
        </p:nvSpPr>
        <p:spPr>
          <a:xfrm>
            <a:off x="786384" y="1682496"/>
            <a:ext cx="1463040" cy="384048"/>
          </a:xfrm>
          <a:prstGeom prst="rect">
            <a:avLst/>
          </a:prstGeom>
          <a:noFill/>
          <a:ln/>
        </p:spPr>
        <p:txBody>
          <a:bodyPr wrap="square" lIns="0" tIns="0" rIns="0" bIns="0" rtlCol="0" anchor="t"/>
          <a:lstStyle/>
          <a:p>
            <a:pPr algn="l" indent="0" marL="0">
              <a:lnSpc>
                <a:spcPct val="110000"/>
              </a:lnSpc>
              <a:buNone/>
            </a:pPr>
            <a:r>
              <a:rPr lang="en-US" sz="2100" b="1" dirty="0">
                <a:solidFill>
                  <a:srgbClr val="0B8F65"/>
                </a:solidFill>
                <a:latin typeface="Segoe UI" pitchFamily="34" charset="0"/>
                <a:ea typeface="Segoe UI" pitchFamily="34" charset="-122"/>
                <a:cs typeface="Segoe UI" pitchFamily="34" charset="-120"/>
              </a:rPr>
              <a:t>32 / 32</a:t>
            </a:r>
            <a:endParaRPr lang="en-US" sz="2100" dirty="0"/>
          </a:p>
        </p:txBody>
      </p:sp>
      <p:sp>
        <p:nvSpPr>
          <p:cNvPr id="7" name="Text 5"/>
          <p:cNvSpPr/>
          <p:nvPr/>
        </p:nvSpPr>
        <p:spPr>
          <a:xfrm>
            <a:off x="2029968" y="1737360"/>
            <a:ext cx="1920240" cy="402336"/>
          </a:xfrm>
          <a:prstGeom prst="rect">
            <a:avLst/>
          </a:prstGeom>
          <a:noFill/>
          <a:ln/>
        </p:spPr>
        <p:txBody>
          <a:bodyPr wrap="square" lIns="0" tIns="0" rIns="0" bIns="0" rtlCol="0" anchor="t"/>
          <a:lstStyle/>
          <a:p>
            <a:pPr algn="l" indent="0" marL="0">
              <a:lnSpc>
                <a:spcPct val="115000"/>
              </a:lnSpc>
              <a:buNone/>
            </a:pPr>
            <a:r>
              <a:rPr lang="en-US" sz="1000" dirty="0">
                <a:solidFill>
                  <a:srgbClr val="11162E"/>
                </a:solidFill>
                <a:latin typeface="Segoe UI" pitchFamily="34" charset="0"/>
                <a:ea typeface="Segoe UI" pitchFamily="34" charset="-122"/>
                <a:cs typeface="Segoe UI" pitchFamily="34" charset="-120"/>
              </a:rPr>
              <a:t>automated checks pass</a:t>
            </a:r>
            <a:endParaRPr lang="en-US" sz="1000" dirty="0"/>
          </a:p>
        </p:txBody>
      </p:sp>
      <p:sp>
        <p:nvSpPr>
          <p:cNvPr id="8" name="Text 6"/>
          <p:cNvSpPr/>
          <p:nvPr/>
        </p:nvSpPr>
        <p:spPr>
          <a:xfrm>
            <a:off x="786384" y="2194560"/>
            <a:ext cx="3108960" cy="292608"/>
          </a:xfrm>
          <a:prstGeom prst="rect">
            <a:avLst/>
          </a:prstGeom>
          <a:noFill/>
          <a:ln/>
        </p:spPr>
        <p:txBody>
          <a:bodyPr wrap="square" lIns="0" tIns="0" rIns="0" bIns="0" rtlCol="0" anchor="t"/>
          <a:lstStyle/>
          <a:p>
            <a:pPr algn="l" indent="0" marL="0">
              <a:lnSpc>
                <a:spcPct val="110000"/>
              </a:lnSpc>
              <a:buNone/>
            </a:pPr>
            <a:r>
              <a:rPr lang="en-US" sz="830" dirty="0">
                <a:solidFill>
                  <a:srgbClr val="98A0BC"/>
                </a:solidFill>
                <a:latin typeface="Segoe UI" pitchFamily="34" charset="0"/>
                <a:ea typeface="Segoe UI" pitchFamily="34" charset="-122"/>
                <a:cs typeface="Segoe UI" pitchFamily="34" charset="-120"/>
              </a:rPr>
              <a:t>verify-fixes.js, run after every fix</a:t>
            </a:r>
            <a:endParaRPr lang="en-US" sz="830" dirty="0"/>
          </a:p>
        </p:txBody>
      </p:sp>
      <p:sp>
        <p:nvSpPr>
          <p:cNvPr id="9" name="Shape 7"/>
          <p:cNvSpPr/>
          <p:nvPr/>
        </p:nvSpPr>
        <p:spPr>
          <a:xfrm>
            <a:off x="4315968" y="1572768"/>
            <a:ext cx="3566160" cy="1060704"/>
          </a:xfrm>
          <a:prstGeom prst="roundRect">
            <a:avLst>
              <a:gd name="adj" fmla="val 8621"/>
            </a:avLst>
          </a:prstGeom>
          <a:solidFill>
            <a:srgbClr val="FFFFFF"/>
          </a:solidFill>
          <a:ln w="12700">
            <a:solidFill>
              <a:srgbClr val="E2E5F0"/>
            </a:solidFill>
            <a:prstDash val="solid"/>
          </a:ln>
        </p:spPr>
      </p:sp>
      <p:sp>
        <p:nvSpPr>
          <p:cNvPr id="10" name="Text 8"/>
          <p:cNvSpPr/>
          <p:nvPr/>
        </p:nvSpPr>
        <p:spPr>
          <a:xfrm>
            <a:off x="4553712" y="1682496"/>
            <a:ext cx="1463040" cy="384048"/>
          </a:xfrm>
          <a:prstGeom prst="rect">
            <a:avLst/>
          </a:prstGeom>
          <a:noFill/>
          <a:ln/>
        </p:spPr>
        <p:txBody>
          <a:bodyPr wrap="square" lIns="0" tIns="0" rIns="0" bIns="0" rtlCol="0" anchor="t"/>
          <a:lstStyle/>
          <a:p>
            <a:pPr algn="l" indent="0" marL="0">
              <a:lnSpc>
                <a:spcPct val="110000"/>
              </a:lnSpc>
              <a:buNone/>
            </a:pPr>
            <a:r>
              <a:rPr lang="en-US" sz="2100" b="1" dirty="0">
                <a:solidFill>
                  <a:srgbClr val="0B8F65"/>
                </a:solidFill>
                <a:latin typeface="Segoe UI" pitchFamily="34" charset="0"/>
                <a:ea typeface="Segoe UI" pitchFamily="34" charset="-122"/>
                <a:cs typeface="Segoe UI" pitchFamily="34" charset="-120"/>
              </a:rPr>
              <a:t>21 / 21</a:t>
            </a:r>
            <a:endParaRPr lang="en-US" sz="2100" dirty="0"/>
          </a:p>
        </p:txBody>
      </p:sp>
      <p:sp>
        <p:nvSpPr>
          <p:cNvPr id="11" name="Text 9"/>
          <p:cNvSpPr/>
          <p:nvPr/>
        </p:nvSpPr>
        <p:spPr>
          <a:xfrm>
            <a:off x="5797296" y="1737360"/>
            <a:ext cx="1920240" cy="402336"/>
          </a:xfrm>
          <a:prstGeom prst="rect">
            <a:avLst/>
          </a:prstGeom>
          <a:noFill/>
          <a:ln/>
        </p:spPr>
        <p:txBody>
          <a:bodyPr wrap="square" lIns="0" tIns="0" rIns="0" bIns="0" rtlCol="0" anchor="t"/>
          <a:lstStyle/>
          <a:p>
            <a:pPr algn="l" indent="0" marL="0">
              <a:lnSpc>
                <a:spcPct val="115000"/>
              </a:lnSpc>
              <a:buNone/>
            </a:pPr>
            <a:r>
              <a:rPr lang="en-US" sz="1000" dirty="0">
                <a:solidFill>
                  <a:srgbClr val="11162E"/>
                </a:solidFill>
                <a:latin typeface="Segoe UI" pitchFamily="34" charset="0"/>
                <a:ea typeface="Segoe UI" pitchFamily="34" charset="-122"/>
                <a:cs typeface="Segoe UI" pitchFamily="34" charset="-120"/>
              </a:rPr>
              <a:t>Expo Doctor checks pass</a:t>
            </a:r>
            <a:endParaRPr lang="en-US" sz="1000" dirty="0"/>
          </a:p>
        </p:txBody>
      </p:sp>
      <p:sp>
        <p:nvSpPr>
          <p:cNvPr id="12" name="Text 10"/>
          <p:cNvSpPr/>
          <p:nvPr/>
        </p:nvSpPr>
        <p:spPr>
          <a:xfrm>
            <a:off x="4553712" y="2194560"/>
            <a:ext cx="3108960" cy="292608"/>
          </a:xfrm>
          <a:prstGeom prst="rect">
            <a:avLst/>
          </a:prstGeom>
          <a:noFill/>
          <a:ln/>
        </p:spPr>
        <p:txBody>
          <a:bodyPr wrap="square" lIns="0" tIns="0" rIns="0" bIns="0" rtlCol="0" anchor="t"/>
          <a:lstStyle/>
          <a:p>
            <a:pPr algn="l" indent="0" marL="0">
              <a:lnSpc>
                <a:spcPct val="110000"/>
              </a:lnSpc>
              <a:buNone/>
            </a:pPr>
            <a:r>
              <a:rPr lang="en-US" sz="830" dirty="0">
                <a:solidFill>
                  <a:srgbClr val="98A0BC"/>
                </a:solidFill>
                <a:latin typeface="Segoe UI" pitchFamily="34" charset="0"/>
                <a:ea typeface="Segoe UI" pitchFamily="34" charset="-122"/>
                <a:cs typeface="Segoe UI" pitchFamily="34" charset="-120"/>
              </a:rPr>
              <a:t>SDK 57 dependency health</a:t>
            </a:r>
            <a:endParaRPr lang="en-US" sz="830" dirty="0"/>
          </a:p>
        </p:txBody>
      </p:sp>
      <p:sp>
        <p:nvSpPr>
          <p:cNvPr id="13" name="Shape 11"/>
          <p:cNvSpPr/>
          <p:nvPr/>
        </p:nvSpPr>
        <p:spPr>
          <a:xfrm>
            <a:off x="8083296" y="1572768"/>
            <a:ext cx="3566160" cy="1060704"/>
          </a:xfrm>
          <a:prstGeom prst="roundRect">
            <a:avLst>
              <a:gd name="adj" fmla="val 8621"/>
            </a:avLst>
          </a:prstGeom>
          <a:solidFill>
            <a:srgbClr val="FFFFFF"/>
          </a:solidFill>
          <a:ln w="12700">
            <a:solidFill>
              <a:srgbClr val="E2E5F0"/>
            </a:solidFill>
            <a:prstDash val="solid"/>
          </a:ln>
        </p:spPr>
      </p:sp>
      <p:sp>
        <p:nvSpPr>
          <p:cNvPr id="14" name="Text 12"/>
          <p:cNvSpPr/>
          <p:nvPr/>
        </p:nvSpPr>
        <p:spPr>
          <a:xfrm>
            <a:off x="8321040" y="1682496"/>
            <a:ext cx="1463040" cy="384048"/>
          </a:xfrm>
          <a:prstGeom prst="rect">
            <a:avLst/>
          </a:prstGeom>
          <a:noFill/>
          <a:ln/>
        </p:spPr>
        <p:txBody>
          <a:bodyPr wrap="square" lIns="0" tIns="0" rIns="0" bIns="0" rtlCol="0" anchor="t"/>
          <a:lstStyle/>
          <a:p>
            <a:pPr algn="l" indent="0" marL="0">
              <a:lnSpc>
                <a:spcPct val="110000"/>
              </a:lnSpc>
              <a:buNone/>
            </a:pPr>
            <a:r>
              <a:rPr lang="en-US" sz="2100" b="1" dirty="0">
                <a:solidFill>
                  <a:srgbClr val="0B8F65"/>
                </a:solidFill>
                <a:latin typeface="Segoe UI" pitchFamily="34" charset="0"/>
                <a:ea typeface="Segoe UI" pitchFamily="34" charset="-122"/>
                <a:cs typeface="Segoe UI" pitchFamily="34" charset="-120"/>
              </a:rPr>
              <a:t>0</a:t>
            </a:r>
            <a:endParaRPr lang="en-US" sz="2100" dirty="0"/>
          </a:p>
        </p:txBody>
      </p:sp>
      <p:sp>
        <p:nvSpPr>
          <p:cNvPr id="15" name="Text 13"/>
          <p:cNvSpPr/>
          <p:nvPr/>
        </p:nvSpPr>
        <p:spPr>
          <a:xfrm>
            <a:off x="9564624" y="1737360"/>
            <a:ext cx="1920240" cy="402336"/>
          </a:xfrm>
          <a:prstGeom prst="rect">
            <a:avLst/>
          </a:prstGeom>
          <a:noFill/>
          <a:ln/>
        </p:spPr>
        <p:txBody>
          <a:bodyPr wrap="square" lIns="0" tIns="0" rIns="0" bIns="0" rtlCol="0" anchor="t"/>
          <a:lstStyle/>
          <a:p>
            <a:pPr algn="l" indent="0" marL="0">
              <a:lnSpc>
                <a:spcPct val="115000"/>
              </a:lnSpc>
              <a:buNone/>
            </a:pPr>
            <a:r>
              <a:rPr lang="en-US" sz="1000" dirty="0">
                <a:solidFill>
                  <a:srgbClr val="11162E"/>
                </a:solidFill>
                <a:latin typeface="Segoe UI" pitchFamily="34" charset="0"/>
                <a:ea typeface="Segoe UI" pitchFamily="34" charset="-122"/>
                <a:cs typeface="Segoe UI" pitchFamily="34" charset="-120"/>
              </a:rPr>
              <a:t>TypeScript errors</a:t>
            </a:r>
            <a:endParaRPr lang="en-US" sz="1000" dirty="0"/>
          </a:p>
        </p:txBody>
      </p:sp>
      <p:sp>
        <p:nvSpPr>
          <p:cNvPr id="16" name="Text 14"/>
          <p:cNvSpPr/>
          <p:nvPr/>
        </p:nvSpPr>
        <p:spPr>
          <a:xfrm>
            <a:off x="8321040" y="2194560"/>
            <a:ext cx="3108960" cy="292608"/>
          </a:xfrm>
          <a:prstGeom prst="rect">
            <a:avLst/>
          </a:prstGeom>
          <a:noFill/>
          <a:ln/>
        </p:spPr>
        <p:txBody>
          <a:bodyPr wrap="square" lIns="0" tIns="0" rIns="0" bIns="0" rtlCol="0" anchor="t"/>
          <a:lstStyle/>
          <a:p>
            <a:pPr algn="l" indent="0" marL="0">
              <a:lnSpc>
                <a:spcPct val="110000"/>
              </a:lnSpc>
              <a:buNone/>
            </a:pPr>
            <a:r>
              <a:rPr lang="en-US" sz="830" dirty="0">
                <a:solidFill>
                  <a:srgbClr val="98A0BC"/>
                </a:solidFill>
                <a:latin typeface="Segoe UI" pitchFamily="34" charset="0"/>
                <a:ea typeface="Segoe UI" pitchFamily="34" charset="-122"/>
                <a:cs typeface="Segoe UI" pitchFamily="34" charset="-120"/>
              </a:rPr>
              <a:t>tsc --noEmit, clean</a:t>
            </a:r>
            <a:endParaRPr lang="en-US" sz="830" dirty="0"/>
          </a:p>
        </p:txBody>
      </p:sp>
      <p:sp>
        <p:nvSpPr>
          <p:cNvPr id="17" name="Text 15"/>
          <p:cNvSpPr/>
          <p:nvPr/>
        </p:nvSpPr>
        <p:spPr>
          <a:xfrm>
            <a:off x="594360" y="2852928"/>
            <a:ext cx="5486400" cy="219456"/>
          </a:xfrm>
          <a:prstGeom prst="rect">
            <a:avLst/>
          </a:prstGeom>
          <a:noFill/>
          <a:ln/>
        </p:spPr>
        <p:txBody>
          <a:bodyPr wrap="square" lIns="0" tIns="0" rIns="0" bIns="0" rtlCol="0" anchor="t"/>
          <a:lstStyle/>
          <a:p>
            <a:pPr algn="l" indent="0" marL="0">
              <a:lnSpc>
                <a:spcPct val="110000"/>
              </a:lnSpc>
              <a:buNone/>
            </a:pPr>
            <a:r>
              <a:rPr lang="en-US" sz="850" b="1" spc="180" kern="0" dirty="0">
                <a:solidFill>
                  <a:srgbClr val="98A0BC"/>
                </a:solidFill>
                <a:latin typeface="Segoe UI" pitchFamily="34" charset="0"/>
                <a:ea typeface="Segoe UI" pitchFamily="34" charset="-122"/>
                <a:cs typeface="Segoe UI" pitchFamily="34" charset="-120"/>
              </a:rPr>
              <a:t>THREE REAL FAILURES WE FIXED</a:t>
            </a:r>
            <a:endParaRPr lang="en-US" sz="850" dirty="0"/>
          </a:p>
        </p:txBody>
      </p:sp>
      <p:sp>
        <p:nvSpPr>
          <p:cNvPr id="18" name="Shape 16"/>
          <p:cNvSpPr/>
          <p:nvPr/>
        </p:nvSpPr>
        <p:spPr>
          <a:xfrm>
            <a:off x="548640" y="3163824"/>
            <a:ext cx="6766560" cy="658368"/>
          </a:xfrm>
          <a:prstGeom prst="roundRect">
            <a:avLst>
              <a:gd name="adj" fmla="val 13889"/>
            </a:avLst>
          </a:prstGeom>
          <a:solidFill>
            <a:srgbClr val="FFFFFF"/>
          </a:solidFill>
          <a:ln w="12700">
            <a:solidFill>
              <a:srgbClr val="E2E5F0"/>
            </a:solidFill>
            <a:prstDash val="solid"/>
          </a:ln>
        </p:spPr>
      </p:sp>
      <p:sp>
        <p:nvSpPr>
          <p:cNvPr id="19" name="Text 17"/>
          <p:cNvSpPr/>
          <p:nvPr/>
        </p:nvSpPr>
        <p:spPr>
          <a:xfrm>
            <a:off x="786384" y="3273552"/>
            <a:ext cx="2651760" cy="274320"/>
          </a:xfrm>
          <a:prstGeom prst="rect">
            <a:avLst/>
          </a:prstGeom>
          <a:noFill/>
          <a:ln/>
        </p:spPr>
        <p:txBody>
          <a:bodyPr wrap="square" lIns="0" tIns="0" rIns="0" bIns="0" rtlCol="0" anchor="t"/>
          <a:lstStyle/>
          <a:p>
            <a:pPr algn="l" indent="0" marL="0">
              <a:lnSpc>
                <a:spcPct val="110000"/>
              </a:lnSpc>
              <a:buNone/>
            </a:pPr>
            <a:r>
              <a:rPr lang="en-US" sz="1100" b="1" dirty="0">
                <a:solidFill>
                  <a:srgbClr val="11162E"/>
                </a:solidFill>
                <a:latin typeface="Segoe UI" pitchFamily="34" charset="0"/>
                <a:ea typeface="Segoe UI" pitchFamily="34" charset="-122"/>
                <a:cs typeface="Segoe UI" pitchFamily="34" charset="-120"/>
              </a:rPr>
              <a:t>App crashed on launch</a:t>
            </a:r>
            <a:endParaRPr lang="en-US" sz="1100" dirty="0"/>
          </a:p>
        </p:txBody>
      </p:sp>
      <p:sp>
        <p:nvSpPr>
          <p:cNvPr id="20" name="Text 18"/>
          <p:cNvSpPr/>
          <p:nvPr/>
        </p:nvSpPr>
        <p:spPr>
          <a:xfrm>
            <a:off x="3493008" y="3273552"/>
            <a:ext cx="3611880" cy="438912"/>
          </a:xfrm>
          <a:prstGeom prst="rect">
            <a:avLst/>
          </a:prstGeom>
          <a:noFill/>
          <a:ln/>
        </p:spPr>
        <p:txBody>
          <a:bodyPr wrap="square" lIns="0" tIns="0" rIns="0" bIns="0" rtlCol="0" anchor="t"/>
          <a:lstStyle/>
          <a:p>
            <a:pPr algn="l" indent="0" marL="0">
              <a:lnSpc>
                <a:spcPct val="118000"/>
              </a:lnSpc>
              <a:buNone/>
            </a:pPr>
            <a:r>
              <a:rPr lang="en-US" sz="980" dirty="0">
                <a:solidFill>
                  <a:srgbClr val="5B6382"/>
                </a:solidFill>
                <a:latin typeface="Segoe UI" pitchFamily="34" charset="0"/>
                <a:ea typeface="Segoe UI" pitchFamily="34" charset="-122"/>
                <a:cs typeface="Segoe UI" pitchFamily="34" charset="-120"/>
              </a:rPr>
              <a:t>Now shows a readable setup screen instead of dying</a:t>
            </a:r>
            <a:endParaRPr lang="en-US" sz="980" dirty="0"/>
          </a:p>
        </p:txBody>
      </p:sp>
      <p:sp>
        <p:nvSpPr>
          <p:cNvPr id="21" name="Shape 19"/>
          <p:cNvSpPr/>
          <p:nvPr/>
        </p:nvSpPr>
        <p:spPr>
          <a:xfrm>
            <a:off x="548640" y="3950208"/>
            <a:ext cx="6766560" cy="658368"/>
          </a:xfrm>
          <a:prstGeom prst="roundRect">
            <a:avLst>
              <a:gd name="adj" fmla="val 13889"/>
            </a:avLst>
          </a:prstGeom>
          <a:solidFill>
            <a:srgbClr val="FFFFFF"/>
          </a:solidFill>
          <a:ln w="12700">
            <a:solidFill>
              <a:srgbClr val="E2E5F0"/>
            </a:solidFill>
            <a:prstDash val="solid"/>
          </a:ln>
        </p:spPr>
      </p:sp>
      <p:sp>
        <p:nvSpPr>
          <p:cNvPr id="22" name="Text 20"/>
          <p:cNvSpPr/>
          <p:nvPr/>
        </p:nvSpPr>
        <p:spPr>
          <a:xfrm>
            <a:off x="786384" y="4059936"/>
            <a:ext cx="2651760" cy="274320"/>
          </a:xfrm>
          <a:prstGeom prst="rect">
            <a:avLst/>
          </a:prstGeom>
          <a:noFill/>
          <a:ln/>
        </p:spPr>
        <p:txBody>
          <a:bodyPr wrap="square" lIns="0" tIns="0" rIns="0" bIns="0" rtlCol="0" anchor="t"/>
          <a:lstStyle/>
          <a:p>
            <a:pPr algn="l" indent="0" marL="0">
              <a:lnSpc>
                <a:spcPct val="110000"/>
              </a:lnSpc>
              <a:buNone/>
            </a:pPr>
            <a:r>
              <a:rPr lang="en-US" sz="1100" b="1" dirty="0">
                <a:solidFill>
                  <a:srgbClr val="11162E"/>
                </a:solidFill>
                <a:latin typeface="Segoe UI" pitchFamily="34" charset="0"/>
                <a:ea typeface="Segoe UI" pitchFamily="34" charset="-122"/>
                <a:cs typeface="Segoe UI" pitchFamily="34" charset="-120"/>
              </a:rPr>
              <a:t>AI model retired overnight</a:t>
            </a:r>
            <a:endParaRPr lang="en-US" sz="1100" dirty="0"/>
          </a:p>
        </p:txBody>
      </p:sp>
      <p:sp>
        <p:nvSpPr>
          <p:cNvPr id="23" name="Text 21"/>
          <p:cNvSpPr/>
          <p:nvPr/>
        </p:nvSpPr>
        <p:spPr>
          <a:xfrm>
            <a:off x="3493008" y="4059936"/>
            <a:ext cx="3611880" cy="438912"/>
          </a:xfrm>
          <a:prstGeom prst="rect">
            <a:avLst/>
          </a:prstGeom>
          <a:noFill/>
          <a:ln/>
        </p:spPr>
        <p:txBody>
          <a:bodyPr wrap="square" lIns="0" tIns="0" rIns="0" bIns="0" rtlCol="0" anchor="t"/>
          <a:lstStyle/>
          <a:p>
            <a:pPr algn="l" indent="0" marL="0">
              <a:lnSpc>
                <a:spcPct val="118000"/>
              </a:lnSpc>
              <a:buNone/>
            </a:pPr>
            <a:r>
              <a:rPr lang="en-US" sz="980" dirty="0">
                <a:solidFill>
                  <a:srgbClr val="5B6382"/>
                </a:solidFill>
                <a:latin typeface="Segoe UI" pitchFamily="34" charset="0"/>
                <a:ea typeface="Segoe UI" pitchFamily="34" charset="-122"/>
                <a:cs typeface="Segoe UI" pitchFamily="34" charset="-120"/>
              </a:rPr>
              <a:t>Model name moved into config + a working replacement</a:t>
            </a:r>
            <a:endParaRPr lang="en-US" sz="980" dirty="0"/>
          </a:p>
        </p:txBody>
      </p:sp>
      <p:sp>
        <p:nvSpPr>
          <p:cNvPr id="24" name="Shape 22"/>
          <p:cNvSpPr/>
          <p:nvPr/>
        </p:nvSpPr>
        <p:spPr>
          <a:xfrm>
            <a:off x="548640" y="4736592"/>
            <a:ext cx="6766560" cy="658368"/>
          </a:xfrm>
          <a:prstGeom prst="roundRect">
            <a:avLst>
              <a:gd name="adj" fmla="val 13889"/>
            </a:avLst>
          </a:prstGeom>
          <a:solidFill>
            <a:srgbClr val="FFFFFF"/>
          </a:solidFill>
          <a:ln w="12700">
            <a:solidFill>
              <a:srgbClr val="E2E5F0"/>
            </a:solidFill>
            <a:prstDash val="solid"/>
          </a:ln>
        </p:spPr>
      </p:sp>
      <p:sp>
        <p:nvSpPr>
          <p:cNvPr id="25" name="Text 23"/>
          <p:cNvSpPr/>
          <p:nvPr/>
        </p:nvSpPr>
        <p:spPr>
          <a:xfrm>
            <a:off x="786384" y="4846320"/>
            <a:ext cx="2651760" cy="274320"/>
          </a:xfrm>
          <a:prstGeom prst="rect">
            <a:avLst/>
          </a:prstGeom>
          <a:noFill/>
          <a:ln/>
        </p:spPr>
        <p:txBody>
          <a:bodyPr wrap="square" lIns="0" tIns="0" rIns="0" bIns="0" rtlCol="0" anchor="t"/>
          <a:lstStyle/>
          <a:p>
            <a:pPr algn="l" indent="0" marL="0">
              <a:lnSpc>
                <a:spcPct val="110000"/>
              </a:lnSpc>
              <a:buNone/>
            </a:pPr>
            <a:r>
              <a:rPr lang="en-US" sz="1100" b="1" dirty="0">
                <a:solidFill>
                  <a:srgbClr val="11162E"/>
                </a:solidFill>
                <a:latin typeface="Segoe UI" pitchFamily="34" charset="0"/>
                <a:ea typeface="Segoe UI" pitchFamily="34" charset="-122"/>
                <a:cs typeface="Segoe UI" pitchFamily="34" charset="-120"/>
              </a:rPr>
              <a:t>Fasting timer reset on reopen</a:t>
            </a:r>
            <a:endParaRPr lang="en-US" sz="1100" dirty="0"/>
          </a:p>
        </p:txBody>
      </p:sp>
      <p:sp>
        <p:nvSpPr>
          <p:cNvPr id="26" name="Text 24"/>
          <p:cNvSpPr/>
          <p:nvPr/>
        </p:nvSpPr>
        <p:spPr>
          <a:xfrm>
            <a:off x="3493008" y="4846320"/>
            <a:ext cx="3611880" cy="438912"/>
          </a:xfrm>
          <a:prstGeom prst="rect">
            <a:avLst/>
          </a:prstGeom>
          <a:noFill/>
          <a:ln/>
        </p:spPr>
        <p:txBody>
          <a:bodyPr wrap="square" lIns="0" tIns="0" rIns="0" bIns="0" rtlCol="0" anchor="t"/>
          <a:lstStyle/>
          <a:p>
            <a:pPr algn="l" indent="0" marL="0">
              <a:lnSpc>
                <a:spcPct val="118000"/>
              </a:lnSpc>
              <a:buNone/>
            </a:pPr>
            <a:r>
              <a:rPr lang="en-US" sz="980" dirty="0">
                <a:solidFill>
                  <a:srgbClr val="5B6382"/>
                </a:solidFill>
                <a:latin typeface="Segoe UI" pitchFamily="34" charset="0"/>
                <a:ea typeface="Segoe UI" pitchFamily="34" charset="-122"/>
                <a:cs typeface="Segoe UI" pitchFamily="34" charset="-120"/>
              </a:rPr>
              <a:t>Now derived from the stored start time</a:t>
            </a:r>
            <a:endParaRPr lang="en-US" sz="980" dirty="0"/>
          </a:p>
        </p:txBody>
      </p:sp>
      <p:sp>
        <p:nvSpPr>
          <p:cNvPr id="27" name="Shape 25"/>
          <p:cNvSpPr/>
          <p:nvPr/>
        </p:nvSpPr>
        <p:spPr>
          <a:xfrm>
            <a:off x="7589520" y="2761488"/>
            <a:ext cx="4050792" cy="2852928"/>
          </a:xfrm>
          <a:prstGeom prst="roundRect">
            <a:avLst>
              <a:gd name="adj" fmla="val 3205"/>
            </a:avLst>
          </a:prstGeom>
          <a:solidFill>
            <a:srgbClr val="FFFFFF"/>
          </a:solidFill>
          <a:ln w="12700">
            <a:solidFill>
              <a:srgbClr val="E2E5F0"/>
            </a:solidFill>
            <a:prstDash val="solid"/>
          </a:ln>
        </p:spPr>
      </p:sp>
      <p:sp>
        <p:nvSpPr>
          <p:cNvPr id="28" name="Text 26"/>
          <p:cNvSpPr/>
          <p:nvPr/>
        </p:nvSpPr>
        <p:spPr>
          <a:xfrm>
            <a:off x="7863840" y="2944368"/>
            <a:ext cx="3502152" cy="274320"/>
          </a:xfrm>
          <a:prstGeom prst="rect">
            <a:avLst/>
          </a:prstGeom>
          <a:noFill/>
          <a:ln/>
        </p:spPr>
        <p:txBody>
          <a:bodyPr wrap="square" lIns="0" tIns="0" rIns="0" bIns="0" rtlCol="0" anchor="t"/>
          <a:lstStyle/>
          <a:p>
            <a:pPr algn="l" indent="0" marL="0">
              <a:lnSpc>
                <a:spcPct val="110000"/>
              </a:lnSpc>
              <a:buNone/>
            </a:pPr>
            <a:r>
              <a:rPr lang="en-US" sz="1250" b="1" dirty="0">
                <a:solidFill>
                  <a:srgbClr val="11162E"/>
                </a:solidFill>
                <a:latin typeface="Segoe UI" pitchFamily="34" charset="0"/>
                <a:ea typeface="Segoe UI" pitchFamily="34" charset="-122"/>
                <a:cs typeface="Segoe UI" pitchFamily="34" charset="-120"/>
              </a:rPr>
              <a:t>Where it stands</a:t>
            </a:r>
            <a:endParaRPr lang="en-US" sz="1250" dirty="0"/>
          </a:p>
        </p:txBody>
      </p:sp>
      <p:sp>
        <p:nvSpPr>
          <p:cNvPr id="29" name="Text 27"/>
          <p:cNvSpPr/>
          <p:nvPr/>
        </p:nvSpPr>
        <p:spPr>
          <a:xfrm>
            <a:off x="7863840" y="3291840"/>
            <a:ext cx="3502152" cy="2103120"/>
          </a:xfrm>
          <a:prstGeom prst="rect">
            <a:avLst/>
          </a:prstGeom>
          <a:noFill/>
          <a:ln/>
        </p:spPr>
        <p:txBody>
          <a:bodyPr wrap="square" lIns="0" tIns="0" rIns="0" bIns="0" rtlCol="0" anchor="t"/>
          <a:lstStyle/>
          <a:p>
            <a:pPr algn="l" indent="0" marL="0">
              <a:lnSpc>
                <a:spcPct val="110000"/>
              </a:lnSpc>
              <a:buNone/>
            </a:pPr>
            <a:r>
              <a:rPr lang="en-US" sz="850" b="1" spc="140" kern="0" dirty="0">
                <a:solidFill>
                  <a:srgbClr val="0B8F65"/>
                </a:solidFill>
                <a:latin typeface="Segoe UI" pitchFamily="34" charset="0"/>
                <a:ea typeface="Segoe UI" pitchFamily="34" charset="-122"/>
                <a:cs typeface="Segoe UI" pitchFamily="34" charset="-120"/>
              </a:rPr>
              <a:t>WORKING TODAY
</a:t>
            </a:r>
            <a:pPr algn="l" indent="0" marL="0">
              <a:lnSpc>
                <a:spcPct val="110000"/>
              </a:lnSpc>
              <a:buNone/>
            </a:pPr>
            <a:r>
              <a:rPr lang="en-US" sz="980" dirty="0">
                <a:solidFill>
                  <a:srgbClr val="5B6382"/>
                </a:solidFill>
                <a:latin typeface="Segoe UI" pitchFamily="34" charset="0"/>
                <a:ea typeface="Segoe UI" pitchFamily="34" charset="-122"/>
                <a:cs typeface="Segoe UI" pitchFamily="34" charset="-120"/>
              </a:rPr>
              <a:t>Tracking loop · AI coach · scanner · partners · streaks · export
</a:t>
            </a:r>
            <a:endParaRPr lang="en-US" sz="1200" dirty="0"/>
          </a:p>
          <a:p>
            <a:pPr algn="l" indent="0" marL="0">
              <a:lnSpc>
                <a:spcPct val="110000"/>
              </a:lnSpc>
              <a:buNone/>
            </a:pPr>
            <a:r>
              <a:rPr lang="en-US" sz="850" b="1" spc="140" kern="0" dirty="0">
                <a:solidFill>
                  <a:srgbClr val="7C5CFF"/>
                </a:solidFill>
                <a:latin typeface="Segoe UI" pitchFamily="34" charset="0"/>
                <a:ea typeface="Segoe UI" pitchFamily="34" charset="-122"/>
                <a:cs typeface="Segoe UI" pitchFamily="34" charset="-120"/>
              </a:rPr>
              <a:t>NEXT 30 DAYS
</a:t>
            </a:r>
            <a:pPr algn="l" indent="0" marL="0">
              <a:lnSpc>
                <a:spcPct val="110000"/>
              </a:lnSpc>
              <a:buNone/>
            </a:pPr>
            <a:r>
              <a:rPr lang="en-US" sz="980" dirty="0">
                <a:solidFill>
                  <a:srgbClr val="5B6382"/>
                </a:solidFill>
                <a:latin typeface="Segoe UI" pitchFamily="34" charset="0"/>
                <a:ea typeface="Segoe UI" pitchFamily="34" charset="-122"/>
                <a:cs typeface="Segoe UI" pitchFamily="34" charset="-120"/>
              </a:rPr>
              <a:t>Lock the AI proxy · finish account deletion · device test list · clean APK
</a:t>
            </a:r>
            <a:endParaRPr lang="en-US" sz="1200" dirty="0"/>
          </a:p>
          <a:p>
            <a:pPr algn="l" indent="0" marL="0">
              <a:lnSpc>
                <a:spcPct val="110000"/>
              </a:lnSpc>
              <a:buNone/>
            </a:pPr>
            <a:r>
              <a:rPr lang="en-US" sz="850" b="1" spc="140" kern="0" dirty="0">
                <a:solidFill>
                  <a:srgbClr val="F97316"/>
                </a:solidFill>
                <a:latin typeface="Segoe UI" pitchFamily="34" charset="0"/>
                <a:ea typeface="Segoe UI" pitchFamily="34" charset="-122"/>
                <a:cs typeface="Segoe UI" pitchFamily="34" charset="-120"/>
              </a:rPr>
              <a:t>NOT YET — HONESTLY
</a:t>
            </a:r>
            <a:pPr algn="l" indent="0" marL="0">
              <a:lnSpc>
                <a:spcPct val="110000"/>
              </a:lnSpc>
              <a:buNone/>
            </a:pPr>
            <a:r>
              <a:rPr lang="en-US" sz="980" dirty="0">
                <a:solidFill>
                  <a:srgbClr val="5B6382"/>
                </a:solidFill>
                <a:latin typeface="Segoe UI" pitchFamily="34" charset="0"/>
                <a:ea typeface="Segoe UI" pitchFamily="34" charset="-122"/>
                <a:cs typeface="Segoe UI" pitchFamily="34" charset="-120"/>
              </a:rPr>
              <a:t>Store release (no developer accounts) · real payments (placeholder screen)</a:t>
            </a:r>
            <a:endParaRPr lang="en-US" sz="1200" dirty="0"/>
          </a:p>
        </p:txBody>
      </p:sp>
      <p:sp>
        <p:nvSpPr>
          <p:cNvPr id="30" name="Text 28"/>
          <p:cNvSpPr/>
          <p:nvPr/>
        </p:nvSpPr>
        <p:spPr>
          <a:xfrm>
            <a:off x="548640" y="5852160"/>
            <a:ext cx="11091672" cy="365760"/>
          </a:xfrm>
          <a:prstGeom prst="rect">
            <a:avLst/>
          </a:prstGeom>
          <a:noFill/>
          <a:ln/>
        </p:spPr>
        <p:txBody>
          <a:bodyPr wrap="square" lIns="0" tIns="0" rIns="0" bIns="0" rtlCol="0" anchor="t"/>
          <a:lstStyle/>
          <a:p>
            <a:pPr algn="ctr" indent="0" marL="0">
              <a:lnSpc>
                <a:spcPct val="110000"/>
              </a:lnSpc>
              <a:buNone/>
            </a:pPr>
            <a:r>
              <a:rPr lang="en-US" sz="1600" b="1" dirty="0">
                <a:solidFill>
                  <a:srgbClr val="11162E"/>
                </a:solidFill>
                <a:latin typeface="Segoe UI" pitchFamily="34" charset="0"/>
                <a:ea typeface="Segoe UI" pitchFamily="34" charset="-122"/>
                <a:cs typeface="Segoe UI" pitchFamily="34" charset="-120"/>
              </a:rPr>
              <a:t>It runs today — so let’s open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AI HIVE / University of Port Harcourt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CalFit — Industrial Training Project Defence</dc:title>
  <dc:subject>AI-powered fitness and nutrition coach</dc:subject>
  <dc:creator>Oluwadare Taye Ayo, Okechukwu David Chukwuebuka</dc:creator>
  <cp:lastModifiedBy>Oluwadare Taye Ayo, Okechukwu David Chukwuebuka</cp:lastModifiedBy>
  <cp:revision>1</cp:revision>
  <dcterms:created xsi:type="dcterms:W3CDTF">2026-10-25T20:05:08Z</dcterms:created>
  <dcterms:modified xsi:type="dcterms:W3CDTF">2026-10-25T20:05:08Z</dcterms:modified>
</cp:coreProperties>
</file>